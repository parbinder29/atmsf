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charts/chart1.xml" ContentType="application/vnd.openxmlformats-officedocument.drawingml.chart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charts/chart2.xml" ContentType="application/vnd.openxmlformats-officedocument.drawingml.chart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charts/chart3.xml" ContentType="application/vnd.openxmlformats-officedocument.drawingml.chart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charts/chart4.xml" ContentType="application/vnd.openxmlformats-officedocument.drawingml.chart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</p:sldIdLst>
  <p:notesMasterIdLst>
    <p:notesMasterId r:id="rId3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ction" id="{ae5c2dfe-af5c-414c-e2e0-98fa28b0e7fc}">
          <p14:sldIdLst>
            <p14:sldId id="256"/>
            <p14:sldId id="257"/>
            <p14:sldId id="258"/>
            <p14:sldId id="259"/>
            <p14:sldId id="260"/>
            <p14:sldId id="261"/>
            <p14:sldId id="262"/>
            <p14:sldId id="263"/>
            <p14:sldId id="264"/>
          </p14:sldIdLst>
        </p14:section>
        <p14:section name="Proposed System" id="{36c562f8-fac8-9ff0-ac0e-4e6affcad46e}">
          <p14:sldIdLst>
            <p14:sldId id="265"/>
            <p14:sldId id="266"/>
            <p14:sldId id="267"/>
            <p14:sldId id="268"/>
            <p14:sldId id="269"/>
            <p14:sldId id="270"/>
            <p14:sldId id="271"/>
            <p14:sldId id="272"/>
            <p14:sldId id="273"/>
          </p14:sldIdLst>
        </p14:section>
        <p14:section name="Implementation" id="{39d9ba3a-0a25-7f2c-e43b-031d567a9f6a}">
          <p14:sldIdLst>
            <p14:sldId id="274"/>
            <p14:sldId id="275"/>
            <p14:sldId id="276"/>
            <p14:sldId id="277"/>
            <p14:sldId id="278"/>
            <p14:sldId id="279"/>
          </p14:sldIdLst>
        </p14:section>
        <p14:section name="Results" id="{8b60c58a-b827-4580-31e7-d782c492414c}">
          <p14:sldIdLst>
            <p14:sldId id="280"/>
            <p14:sldId id="281"/>
            <p14:sldId id="282"/>
            <p14:sldId id="283"/>
            <p14:sldId id="284"/>
            <p14:sldId id="285"/>
            <p14:sldId id="286"/>
          </p14:sldIdLst>
        </p14:section>
        <p14:section name="Conclusion" id="{bd8ca2ac-660b-9c91-1e21-db5c1672ddf7}">
          <p14:sldIdLst>
            <p14:sldId id="287"/>
            <p14:sldId id="288"/>
            <p14:sldId id="289"/>
            <p14:sldId id="290"/>
            <p14:sldId id="291"/>
            <p14:sldId id="292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notesMaster" Target="notesMasters/notesMaster1.xml"/><Relationship Id="rId40" Type="http://schemas.openxmlformats.org/officeDocument/2006/relationships/presProps" Target="presProps.xml"/><Relationship Id="rId41" Type="http://schemas.openxmlformats.org/officeDocument/2006/relationships/viewProps" Target="viewProps.xml"/><Relationship Id="rId42" Type="http://schemas.openxmlformats.org/officeDocument/2006/relationships/theme" Target="theme/theme1.xml"/><Relationship Id="rId43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262626"/>
                </a:solidFill>
                <a:latin typeface="+mn-lt"/>
              </a:defRPr>
            </a:pPr>
            <a:r>
              <a:rPr sz="1400" b="0" i="0" u="none" strike="noStrike">
                <a:solidFill>
                  <a:srgbClr val="262626"/>
                </a:solidFill>
                <a:latin typeface="+mn-lt"/>
              </a:rPr>
              <a:t>KAIST test set (131 images)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mAP@0.5 (%)</c:v>
                </c:pt>
              </c:strCache>
            </c:strRef>
          </c:tx>
          <c:spPr>
            <a:solidFill>
              <a:srgbClr val="0070C0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262626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RGB Only</c:v>
                  </c:pt>
                  <c:pt idx="1">
                    <c:v>Early Fusion</c:v>
                  </c:pt>
                  <c:pt idx="2">
                    <c:v>Late Fusion</c:v>
                  </c:pt>
                  <c:pt idx="3">
                    <c:v>AFTMSF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69.97</c:v>
                </c:pt>
                <c:pt idx="1">
                  <c:v>70.66</c:v>
                </c:pt>
                <c:pt idx="2">
                  <c:v>77.89</c:v>
                </c:pt>
                <c:pt idx="3">
                  <c:v>89.14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mIoU (%)</c:v>
                </c:pt>
              </c:strCache>
            </c:strRef>
          </c:tx>
          <c:spPr>
            <a:solidFill>
              <a:srgbClr val="9DC3E6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262626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RGB Only</c:v>
                  </c:pt>
                  <c:pt idx="1">
                    <c:v>Early Fusion</c:v>
                  </c:pt>
                  <c:pt idx="2">
                    <c:v>Late Fusion</c:v>
                  </c:pt>
                  <c:pt idx="3">
                    <c:v>AFTMSF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37</c:v>
                </c:pt>
                <c:pt idx="1">
                  <c:v>38.45</c:v>
                </c:pt>
                <c:pt idx="2">
                  <c:v>36.34</c:v>
                </c:pt>
                <c:pt idx="3">
                  <c:v>44.28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b="0" i="0" strike="noStrike" sz="1000" u="none">
                  <a:solidFill>
                    <a:srgbClr val="262626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404040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  <c:min val="0"/>
        </c:scaling>
        <c:delete val="0"/>
        <c:axPos val="l"/>
        <c:majorGridlines>
          <c:spPr>
            <a:ln w="9525" cap="flat">
              <a:solidFill>
                <a:srgbClr val="E3E7ED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7F7F7F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262626"/>
                </a:solidFill>
                <a:latin typeface="+mn-lt"/>
              </a:defRPr>
            </a:pPr>
            <a:r>
              <a:rPr sz="1400" b="0" i="0" u="none" strike="noStrike">
                <a:solidFill>
                  <a:srgbClr val="262626"/>
                </a:solidFill>
                <a:latin typeface="+mn-lt"/>
              </a:rPr>
              <a:t>mAP@0.5 (%) under each fault — KAIST test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Early Fusion</c:v>
                </c:pt>
              </c:strCache>
            </c:strRef>
          </c:tx>
          <c:spPr>
            <a:solidFill>
              <a:srgbClr val="7B3FE4"/>
            </a:solidFill>
            <a:effectLst/>
          </c:spPr>
          <c:invertIfNegative val="0"/>
          <c:dLbls>
            <c:numFmt formatCode="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262626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Sheet1!$A$2:$A$9</c:f>
              <c:multiLvlStrCache>
                <c:ptCount val="8"/>
                <c:lvl>
                  <c:pt idx="0">
                    <c:v>RGB drop</c:v>
                  </c:pt>
                  <c:pt idx="1">
                    <c:v>RGB blur</c:v>
                  </c:pt>
                  <c:pt idx="2">
                    <c:v>RGB occl.</c:v>
                  </c:pt>
                  <c:pt idx="3">
                    <c:v>RGB noise</c:v>
                  </c:pt>
                  <c:pt idx="4">
                    <c:v>Thermal drop</c:v>
                  </c:pt>
                  <c:pt idx="5">
                    <c:v>Thermal blur</c:v>
                  </c:pt>
                  <c:pt idx="6">
                    <c:v>Thermal occl.</c:v>
                  </c:pt>
                  <c:pt idx="7">
                    <c:v>Thermal noise</c:v>
                  </c:pt>
                </c:lvl>
              </c:multiLvlStrCache>
            </c:multiLvl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0</c:v>
                </c:pt>
                <c:pt idx="1">
                  <c:v>18.18</c:v>
                </c:pt>
                <c:pt idx="2">
                  <c:v>54.02</c:v>
                </c:pt>
                <c:pt idx="3">
                  <c:v>70.61</c:v>
                </c:pt>
                <c:pt idx="4">
                  <c:v>61.1</c:v>
                </c:pt>
                <c:pt idx="5">
                  <c:v>61.83</c:v>
                </c:pt>
                <c:pt idx="6">
                  <c:v>70.44</c:v>
                </c:pt>
                <c:pt idx="7">
                  <c:v>70.94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Late Fusion</c:v>
                </c:pt>
              </c:strCache>
            </c:strRef>
          </c:tx>
          <c:spPr>
            <a:solidFill>
              <a:srgbClr val="0E9488"/>
            </a:solidFill>
            <a:effectLst/>
          </c:spPr>
          <c:invertIfNegative val="0"/>
          <c:dLbls>
            <c:numFmt formatCode="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262626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Sheet1!$A$2:$A$9</c:f>
              <c:multiLvlStrCache>
                <c:ptCount val="8"/>
                <c:lvl>
                  <c:pt idx="0">
                    <c:v>RGB drop</c:v>
                  </c:pt>
                  <c:pt idx="1">
                    <c:v>RGB blur</c:v>
                  </c:pt>
                  <c:pt idx="2">
                    <c:v>RGB occl.</c:v>
                  </c:pt>
                  <c:pt idx="3">
                    <c:v>RGB noise</c:v>
                  </c:pt>
                  <c:pt idx="4">
                    <c:v>Thermal drop</c:v>
                  </c:pt>
                  <c:pt idx="5">
                    <c:v>Thermal blur</c:v>
                  </c:pt>
                  <c:pt idx="6">
                    <c:v>Thermal occl.</c:v>
                  </c:pt>
                  <c:pt idx="7">
                    <c:v>Thermal noise</c:v>
                  </c:pt>
                </c:lvl>
              </c:multiLvlStrCache>
            </c:multiLvlStrRef>
          </c:cat>
          <c:val>
            <c:numRef>
              <c:f>Sheet1!$C$2:$C$9</c:f>
              <c:numCache>
                <c:formatCode>General</c:formatCode>
                <c:ptCount val="8"/>
                <c:pt idx="0">
                  <c:v>0</c:v>
                </c:pt>
                <c:pt idx="1">
                  <c:v>18.18</c:v>
                </c:pt>
                <c:pt idx="2">
                  <c:v>60.98</c:v>
                </c:pt>
                <c:pt idx="3">
                  <c:v>75.59</c:v>
                </c:pt>
                <c:pt idx="4">
                  <c:v>21.32</c:v>
                </c:pt>
                <c:pt idx="5">
                  <c:v>32.42</c:v>
                </c:pt>
                <c:pt idx="6">
                  <c:v>67.32</c:v>
                </c:pt>
                <c:pt idx="7">
                  <c:v>61.49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AFTMSF</c:v>
                </c:pt>
              </c:strCache>
            </c:strRef>
          </c:tx>
          <c:spPr>
            <a:solidFill>
              <a:srgbClr val="C00000"/>
            </a:solidFill>
            <a:effectLst/>
          </c:spPr>
          <c:invertIfNegative val="0"/>
          <c:dLbls>
            <c:numFmt formatCode="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262626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Sheet1!$A$2:$A$9</c:f>
              <c:multiLvlStrCache>
                <c:ptCount val="8"/>
                <c:lvl>
                  <c:pt idx="0">
                    <c:v>RGB drop</c:v>
                  </c:pt>
                  <c:pt idx="1">
                    <c:v>RGB blur</c:v>
                  </c:pt>
                  <c:pt idx="2">
                    <c:v>RGB occl.</c:v>
                  </c:pt>
                  <c:pt idx="3">
                    <c:v>RGB noise</c:v>
                  </c:pt>
                  <c:pt idx="4">
                    <c:v>Thermal drop</c:v>
                  </c:pt>
                  <c:pt idx="5">
                    <c:v>Thermal blur</c:v>
                  </c:pt>
                  <c:pt idx="6">
                    <c:v>Thermal occl.</c:v>
                  </c:pt>
                  <c:pt idx="7">
                    <c:v>Thermal noise</c:v>
                  </c:pt>
                </c:lvl>
              </c:multiLvlStrCache>
            </c:multiLvlStrRef>
          </c:cat>
          <c:val>
            <c:numRef>
              <c:f>Sheet1!$D$2:$D$9</c:f>
              <c:numCache>
                <c:formatCode>General</c:formatCode>
                <c:ptCount val="8"/>
                <c:pt idx="0">
                  <c:v>63.85</c:v>
                </c:pt>
                <c:pt idx="1">
                  <c:v>69.83</c:v>
                </c:pt>
                <c:pt idx="2">
                  <c:v>78.77</c:v>
                </c:pt>
                <c:pt idx="3">
                  <c:v>80.82</c:v>
                </c:pt>
                <c:pt idx="4">
                  <c:v>78.2</c:v>
                </c:pt>
                <c:pt idx="5">
                  <c:v>79.41</c:v>
                </c:pt>
                <c:pt idx="6">
                  <c:v>81.03</c:v>
                </c:pt>
                <c:pt idx="7">
                  <c:v>80.61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b="0" i="0" strike="noStrike" sz="900" u="none">
                  <a:solidFill>
                    <a:srgbClr val="262626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404040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  <c:min val="0"/>
        </c:scaling>
        <c:delete val="0"/>
        <c:axPos val="l"/>
        <c:majorGridlines>
          <c:spPr>
            <a:ln w="9525" cap="flat">
              <a:solidFill>
                <a:srgbClr val="E3E7ED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7F7F7F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262626"/>
                </a:solidFill>
                <a:latin typeface="+mn-lt"/>
              </a:defRPr>
            </a:pPr>
            <a:r>
              <a:rPr sz="1400" b="0" i="0" u="none" strike="noStrike">
                <a:solidFill>
                  <a:srgbClr val="262626"/>
                </a:solidFill>
                <a:latin typeface="+mn-lt"/>
              </a:rPr>
              <a:t>Mean confidence cᵢ (fault threshold 0.15)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RGB confidence</c:v>
                </c:pt>
              </c:strCache>
            </c:strRef>
          </c:tx>
          <c:spPr>
            <a:solidFill>
              <a:srgbClr val="0070C0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262626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Clean</c:v>
                  </c:pt>
                  <c:pt idx="1">
                    <c:v>RGB dropout</c:v>
                  </c:pt>
                  <c:pt idx="2">
                    <c:v>RGB blur</c:v>
                  </c:pt>
                  <c:pt idx="3">
                    <c:v>Thermal dropout</c:v>
                  </c:pt>
                  <c:pt idx="4">
                    <c:v>Thermal blur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0.717</c:v>
                </c:pt>
                <c:pt idx="1">
                  <c:v>0.389</c:v>
                </c:pt>
                <c:pt idx="2">
                  <c:v>0.359</c:v>
                </c:pt>
                <c:pt idx="3">
                  <c:v>0.717</c:v>
                </c:pt>
                <c:pt idx="4">
                  <c:v>0.717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Thermal confidence</c:v>
                </c:pt>
              </c:strCache>
            </c:strRef>
          </c:tx>
          <c:spPr>
            <a:solidFill>
              <a:srgbClr val="F39C12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262626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Clean</c:v>
                  </c:pt>
                  <c:pt idx="1">
                    <c:v>RGB dropout</c:v>
                  </c:pt>
                  <c:pt idx="2">
                    <c:v>RGB blur</c:v>
                  </c:pt>
                  <c:pt idx="3">
                    <c:v>Thermal dropout</c:v>
                  </c:pt>
                  <c:pt idx="4">
                    <c:v>Thermal blur</c:v>
                  </c:pt>
                </c:lvl>
              </c:multiLvlStrCache>
            </c:multiLvl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0.429</c:v>
                </c:pt>
                <c:pt idx="1">
                  <c:v>0.429</c:v>
                </c:pt>
                <c:pt idx="2">
                  <c:v>0.429</c:v>
                </c:pt>
                <c:pt idx="3">
                  <c:v>0.603</c:v>
                </c:pt>
                <c:pt idx="4">
                  <c:v>0.505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b="0" i="0" strike="noStrike" sz="1000" u="none">
                  <a:solidFill>
                    <a:srgbClr val="262626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404040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"/>
          <c:min val="0"/>
        </c:scaling>
        <c:delete val="0"/>
        <c:axPos val="l"/>
        <c:majorGridlines>
          <c:spPr>
            <a:ln w="9525" cap="flat">
              <a:solidFill>
                <a:srgbClr val="E3E7ED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7F7F7F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262626"/>
                </a:solidFill>
                <a:latin typeface="+mn-lt"/>
              </a:defRPr>
            </a:pPr>
            <a:r>
              <a:rPr sz="1400" b="0" i="0" u="none" strike="noStrike">
                <a:solidFill>
                  <a:srgbClr val="262626"/>
                </a:solidFill>
                <a:latin typeface="+mn-lt"/>
              </a:rPr>
              <a:t>AFTMSF on three datasets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mAP@0.5 (%)</c:v>
                </c:pt>
              </c:strCache>
            </c:strRef>
          </c:tx>
          <c:spPr>
            <a:solidFill>
              <a:srgbClr val="0070C0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262626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KAIST (RGB+T)</c:v>
                  </c:pt>
                  <c:pt idx="1">
                    <c:v>KITTI (RGB+D)</c:v>
                  </c:pt>
                  <c:pt idx="2">
                    <c:v>FLIR (RGB+T)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89.14</c:v>
                </c:pt>
                <c:pt idx="1">
                  <c:v>21.53</c:v>
                </c:pt>
                <c:pt idx="2">
                  <c:v>1.52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mIoU (%)</c:v>
                </c:pt>
              </c:strCache>
            </c:strRef>
          </c:tx>
          <c:spPr>
            <a:solidFill>
              <a:srgbClr val="7B3FE4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262626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KAIST (RGB+T)</c:v>
                  </c:pt>
                  <c:pt idx="1">
                    <c:v>KITTI (RGB+D)</c:v>
                  </c:pt>
                  <c:pt idx="2">
                    <c:v>FLIR (RGB+T)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44.28</c:v>
                </c:pt>
                <c:pt idx="1">
                  <c:v>22.55</c:v>
                </c:pt>
                <c:pt idx="2">
                  <c:v>16.34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b="0" i="0" strike="noStrike" sz="1000" u="none">
                  <a:solidFill>
                    <a:srgbClr val="262626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404040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  <c:min val="0"/>
        </c:scaling>
        <c:delete val="0"/>
        <c:axPos val="l"/>
        <c:majorGridlines>
          <c:spPr>
            <a:ln w="9525" cap="flat">
              <a:solidFill>
                <a:srgbClr val="E3E7ED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7F7F7F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 the team and the project. AFTMSF fuses RGB, thermal and LiDAR depth and keeps working when a sensor fails.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project sits in AI/ML system development for computer vision and autonomous perception.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Each sensor fails differently; fusion paradigms differ in where the information is combined.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Headline numbers are all re-measured from the trained models in October 2026. The 0% for baselines is under complete RGB dropout.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 compare capabilities here, not scores: published numbers use the full KAIST benchmark (miss rate) or other datasets, so they are not comparable with our subset.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Parameter counts in the diagram are measured from the model.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Parameter counts are measured with the model definition.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inference data flow, step by step.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Learned signal weights: RGB 0.23/0.51/0.26, thermal 0.35/0.31/0.34 (reconstruction/variance/entropy).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night scene from the KAIST test set. RGB is dark and noisy; the thermal image shows the pedestrians clearly; the model detects both.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Versions are from the environment rebuilt in October 2026.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Stage 2 stopped after 4 of 10 planned epochs; Stage 3 was resumed once (6 + 30 epochs). Total 50 epochs.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Code is public at github.com/Parbinder29/ATMSF.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KAIST curves come straight from the TensorBoard logs.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Baselines use the same ResNet-50 + FPN parts. Caveat: they were trained 5 epochs without fault injection; AFTMSF 50 epochs with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Every method sees exactly the same seeded faults on all 131 test images. RGB Only has no thermal input, so it is shown only for RGB faults.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Seed 0 makes the Gaussian-noise rows reproducible. Thermal noise is 80.61%, not the 88.00% in the earlier draft.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Inference-time ablation of the trained model (no retraining). The honest finding: robustness comes from the attention fusion and fault-injection training, not from the confidence gating.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Measured mean confidence on the KAIST test set. The detector reacts correctly to RGB faults but raises thermal confidence under thermal faults — a limitation we report.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KITTI uses the Stage 2 model; a 3-epoch Stage 3 run was worse and is not used.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FPS: model forward pass, 256 × 320, batch 1, FP32, RTX 4050 on mains power, median of 5 runs (src/benchmark.py).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with the honest summary: accurate and robust, and we know which part still needs work.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73152"/>
            <a:ext cx="1219169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A651"/>
                </a:solidFill>
              </a:rPr>
              <a:t>Project Presentation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411480" y="1042416"/>
            <a:ext cx="11368735" cy="0"/>
          </a:xfrm>
          <a:prstGeom prst="line">
            <a:avLst/>
          </a:prstGeom>
          <a:noFill/>
          <a:ln w="31750">
            <a:solidFill>
              <a:srgbClr val="0070C0"/>
            </a:solidFill>
            <a:prstDash val="solid"/>
          </a:ln>
        </p:spPr>
      </p:sp>
      <p:sp>
        <p:nvSpPr>
          <p:cNvPr id="4" name="Text 2"/>
          <p:cNvSpPr/>
          <p:nvPr>
            <p:ph idx="102" type="title" hasCustomPrompt="1"/>
          </p:nvPr>
        </p:nvSpPr>
        <p:spPr>
          <a:xfrm>
            <a:off x="411480" y="365760"/>
            <a:ext cx="11368735" cy="64008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3200" b="1" dirty="0">
                <a:solidFill>
                  <a:srgbClr val="000000"/>
                </a:solidFill>
              </a:defRPr>
            </a:lvl1pPr>
          </a:lstStyle>
          <a:p>
            <a:pPr indent="0" marL="0">
              <a:buNone/>
            </a:pP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23015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F7F7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23015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F7F7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0" y="91440"/>
            <a:ext cx="12191695" cy="320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A651"/>
                </a:solidFill>
              </a:rPr>
              <a:t>Project Presentation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02920"/>
            <a:ext cx="11277295" cy="11887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3400" b="1" i="1" dirty="0">
                <a:solidFill>
                  <a:srgbClr val="C00000"/>
                </a:solidFill>
              </a:rPr>
              <a:t>Adaptive Fault-Tolerant Multi-Sensor Fusion</a:t>
            </a:r>
            <a:endParaRPr lang="en-US" sz="3400" dirty="0"/>
          </a:p>
          <a:p>
            <a:pPr algn="ctr" indent="0" marL="0">
              <a:buNone/>
            </a:pPr>
            <a:r>
              <a:rPr lang="en-US" sz="3400" b="1" i="1" dirty="0">
                <a:solidFill>
                  <a:srgbClr val="C00000"/>
                </a:solidFill>
              </a:rPr>
              <a:t>for Real-Time Autonomous Systems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914400" y="1783080"/>
            <a:ext cx="10362895" cy="365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A Project Presentation submitted in partial fulfilment of the requirements for the degree of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914400" y="2194560"/>
            <a:ext cx="10362895" cy="4114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70C0"/>
                </a:solidFill>
              </a:rPr>
              <a:t>BACHELOR OF TECHNOLOGY IN COMPUTER SCIENCE &amp; ENGINEERING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880360"/>
            <a:ext cx="4754880" cy="20116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600" b="1" u="sng" dirty="0">
                <a:solidFill>
                  <a:srgbClr val="C00000"/>
                </a:solidFill>
              </a:rPr>
              <a:t>Presented By: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rgbClr val="C00000"/>
                </a:solidFill>
              </a:rPr>
              <a:t>Sundram Kumar Ray [23BECSE52]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rgbClr val="C00000"/>
                </a:solidFill>
              </a:rPr>
              <a:t>Arshiya [23BECSE09]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rgbClr val="C00000"/>
                </a:solidFill>
              </a:rPr>
              <a:t>Parbinder Singh [23BECSE35]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rgbClr val="C00000"/>
                </a:solidFill>
              </a:rPr>
              <a:t>Anupriya [23BECSE07]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rgbClr val="000000"/>
                </a:solidFill>
              </a:rPr>
              <a:t>Group No. 23G15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7498080" y="2880360"/>
            <a:ext cx="4114800" cy="1463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600" b="1" u="sng" dirty="0">
                <a:solidFill>
                  <a:srgbClr val="C00000"/>
                </a:solidFill>
              </a:rPr>
              <a:t>Under the Guidance of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rgbClr val="C00000"/>
                </a:solidFill>
              </a:rPr>
              <a:t>Prof. Dinesh Kumar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rgbClr val="C00000"/>
                </a:solidFill>
              </a:rPr>
              <a:t>Professor, Dept. of CSE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rgbClr val="C00000"/>
                </a:solidFill>
              </a:rPr>
              <a:t>Central University of Jammu</a:t>
            </a:r>
            <a:endParaRPr lang="en-US" sz="1600" dirty="0"/>
          </a:p>
        </p:txBody>
      </p:sp>
      <p:pic>
        <p:nvPicPr>
          <p:cNvPr id="8" name="Image 0" descr="C:\Users\parbi\AppData\Local\Temp\claude\d--aftmsf\e87c42c5-5d7b-458d-8dbf-7a7efedffd6c\scratchpad\report\logo_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63040" y="4983480"/>
            <a:ext cx="1463040" cy="1374371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3291840" y="5120640"/>
            <a:ext cx="6858000" cy="10058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0000"/>
                </a:solidFill>
              </a:rPr>
              <a:t>Department of Computer Science &amp; Engineering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rgbClr val="000000"/>
                </a:solidFill>
              </a:rPr>
              <a:t>Central University of Jammu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rgbClr val="000000"/>
                </a:solidFill>
              </a:rPr>
              <a:t>Rahya-Suchani (Bagla), District Samba-181143, Jammu (J&amp;K)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3291840" y="6172200"/>
            <a:ext cx="6858000" cy="320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95959"/>
                </a:solidFill>
              </a:rPr>
              <a:t>October 2026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idx="102" type="title" hasCustomPrompt="1"/>
          </p:nvPr>
        </p:nvSpPr>
        <p:spPr>
          <a:xfrm>
            <a:off x="411480" y="365760"/>
            <a:ext cx="1136873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</a:rPr>
              <a:t>Domain Introduction</a:t>
            </a:r>
            <a:endParaRPr lang="en-US" sz="3200" dirty="0"/>
          </a:p>
        </p:txBody>
      </p:sp>
      <p:sp>
        <p:nvSpPr>
          <p:cNvPr id="4" name="Text 1"/>
          <p:cNvSpPr txBox="1"/>
          <p:nvPr/>
        </p:nvSpPr>
        <p:spPr>
          <a:xfrm>
            <a:off x="411480" y="1325880"/>
            <a:ext cx="5852160" cy="47548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800" b="1" dirty="0">
                <a:solidFill>
                  <a:srgbClr val="0070C0"/>
                </a:solidFill>
              </a:rPr>
              <a:t>Research Domain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2"/>
                </a:solidFill>
              </a:rPr>
              <a:t>Research-based artificial intelligence and machine learning system development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2"/>
                </a:solidFill>
              </a:rPr>
              <a:t>Sub-domain: computer vision and autonomous perception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2"/>
                </a:solidFill>
              </a:rPr>
              <a:t>Applications: autonomous vehicles, UAVs, robots, intelligent industrial systems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2"/>
                </a:solidFill>
              </a:rPr>
              <a:t>Core challenge: reliable perception under adverse real-world conditions</a:t>
            </a:r>
            <a:endParaRPr lang="en-US" sz="15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chemeClr val="tx2"/>
                </a:solidFill>
              </a:rPr>
              <a:t> </a:t>
            </a:r>
            <a:endParaRPr lang="en-US" sz="15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800" b="1" dirty="0">
                <a:solidFill>
                  <a:srgbClr val="0070C0"/>
                </a:solidFill>
              </a:rPr>
              <a:t>Why It Matters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2"/>
                </a:solidFill>
              </a:rPr>
              <a:t>Fog, rain, low light or hardware faults degrade sensors and cause safety failures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2"/>
                </a:solidFill>
              </a:rPr>
              <a:t>No single sensor covers every failure scenario, so heterogeneous fusion is essential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2"/>
                </a:solidFill>
              </a:rPr>
              <a:t>Fusion must keep working when one sensor degrades, not collapse with it</a:t>
            </a:r>
            <a:endParaRPr lang="en-US" sz="1500" dirty="0"/>
          </a:p>
        </p:txBody>
      </p:sp>
      <p:sp>
        <p:nvSpPr>
          <p:cNvPr id="5" name="Shape 2"/>
          <p:cNvSpPr/>
          <p:nvPr/>
        </p:nvSpPr>
        <p:spPr>
          <a:xfrm>
            <a:off x="6766560" y="1325880"/>
            <a:ext cx="4983480" cy="777240"/>
          </a:xfrm>
          <a:prstGeom prst="rect">
            <a:avLst/>
          </a:prstGeom>
          <a:solidFill>
            <a:srgbClr val="F5F8FC"/>
          </a:solidFill>
          <a:ln w="15875">
            <a:solidFill>
              <a:srgbClr val="0070C0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6766560" y="1325880"/>
            <a:ext cx="4983480" cy="7772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70C0"/>
                </a:solidFill>
              </a:rPr>
              <a:t>Computer Vision</a:t>
            </a:r>
            <a:endParaRPr lang="en-US" sz="1800" dirty="0"/>
          </a:p>
        </p:txBody>
      </p:sp>
      <p:sp>
        <p:nvSpPr>
          <p:cNvPr id="7" name="Shape 4"/>
          <p:cNvSpPr/>
          <p:nvPr/>
        </p:nvSpPr>
        <p:spPr>
          <a:xfrm>
            <a:off x="6766560" y="2286000"/>
            <a:ext cx="4983480" cy="777240"/>
          </a:xfrm>
          <a:prstGeom prst="rect">
            <a:avLst/>
          </a:prstGeom>
          <a:solidFill>
            <a:srgbClr val="F5F8FC"/>
          </a:solidFill>
          <a:ln w="15875">
            <a:solidFill>
              <a:srgbClr val="00A651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6766560" y="2286000"/>
            <a:ext cx="4983480" cy="7772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A651"/>
                </a:solidFill>
              </a:rPr>
              <a:t>Deep Learning</a:t>
            </a:r>
            <a:endParaRPr lang="en-US" sz="1800" dirty="0"/>
          </a:p>
        </p:txBody>
      </p:sp>
      <p:sp>
        <p:nvSpPr>
          <p:cNvPr id="9" name="Shape 6"/>
          <p:cNvSpPr/>
          <p:nvPr/>
        </p:nvSpPr>
        <p:spPr>
          <a:xfrm>
            <a:off x="6766560" y="3246120"/>
            <a:ext cx="4983480" cy="777240"/>
          </a:xfrm>
          <a:prstGeom prst="rect">
            <a:avLst/>
          </a:prstGeom>
          <a:solidFill>
            <a:srgbClr val="F5F8FC"/>
          </a:solidFill>
          <a:ln w="15875">
            <a:solidFill>
              <a:srgbClr val="C00000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6766560" y="3246120"/>
            <a:ext cx="4983480" cy="7772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00000"/>
                </a:solidFill>
              </a:rPr>
              <a:t>Multi-Sensor Fusion</a:t>
            </a:r>
            <a:endParaRPr lang="en-US" sz="1800" dirty="0"/>
          </a:p>
        </p:txBody>
      </p:sp>
      <p:sp>
        <p:nvSpPr>
          <p:cNvPr id="11" name="Shape 8"/>
          <p:cNvSpPr/>
          <p:nvPr/>
        </p:nvSpPr>
        <p:spPr>
          <a:xfrm>
            <a:off x="6766560" y="4206240"/>
            <a:ext cx="4983480" cy="777240"/>
          </a:xfrm>
          <a:prstGeom prst="rect">
            <a:avLst/>
          </a:prstGeom>
          <a:solidFill>
            <a:srgbClr val="F5F8FC"/>
          </a:solidFill>
          <a:ln w="15875">
            <a:solidFill>
              <a:srgbClr val="7B3FE4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6766560" y="4206240"/>
            <a:ext cx="4983480" cy="7772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7B3FE4"/>
                </a:solidFill>
              </a:rPr>
              <a:t>Fault-Tolerant Systems</a:t>
            </a:r>
            <a:endParaRPr lang="en-US" sz="1800" dirty="0"/>
          </a:p>
        </p:txBody>
      </p:sp>
      <p:sp>
        <p:nvSpPr>
          <p:cNvPr id="13" name="Shape 10"/>
          <p:cNvSpPr/>
          <p:nvPr/>
        </p:nvSpPr>
        <p:spPr>
          <a:xfrm>
            <a:off x="6766560" y="5166360"/>
            <a:ext cx="4983480" cy="777240"/>
          </a:xfrm>
          <a:prstGeom prst="rect">
            <a:avLst/>
          </a:prstGeom>
          <a:solidFill>
            <a:srgbClr val="F5F8FC"/>
          </a:solidFill>
          <a:ln w="15875">
            <a:solidFill>
              <a:srgbClr val="0E9488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6766560" y="5166360"/>
            <a:ext cx="4983480" cy="7772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E9488"/>
                </a:solidFill>
              </a:rPr>
              <a:t>Autonomous Driving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23015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F7F7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idx="102" type="title" hasCustomPrompt="1"/>
          </p:nvPr>
        </p:nvSpPr>
        <p:spPr>
          <a:xfrm>
            <a:off x="411480" y="365760"/>
            <a:ext cx="1136873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</a:rPr>
              <a:t>Introduction to Multi-Sensor Fusion</a:t>
            </a:r>
            <a:endParaRPr lang="en-US" sz="3200" dirty="0"/>
          </a:p>
        </p:txBody>
      </p:sp>
      <p:sp>
        <p:nvSpPr>
          <p:cNvPr id="4" name="card RGB Camera"/>
          <p:cNvSpPr/>
          <p:nvPr/>
        </p:nvSpPr>
        <p:spPr>
          <a:xfrm>
            <a:off x="411480" y="1325880"/>
            <a:ext cx="3639312" cy="1325880"/>
          </a:xfrm>
          <a:prstGeom prst="rect">
            <a:avLst/>
          </a:prstGeom>
          <a:solidFill>
            <a:srgbClr val="F5F8FC"/>
          </a:solidFill>
          <a:ln w="15875">
            <a:solidFill>
              <a:srgbClr val="0070C0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548640" y="1417320"/>
            <a:ext cx="33649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70C0"/>
                </a:solidFill>
              </a:rPr>
              <a:t>RGB Camera</a:t>
            </a:r>
            <a:endParaRPr lang="en-US" sz="18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1828800"/>
            <a:ext cx="336499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tx2"/>
                </a:solidFill>
              </a:rPr>
              <a:t>Rich texture and colour</a:t>
            </a:r>
            <a:endParaRPr lang="en-US" sz="1400" dirty="0"/>
          </a:p>
          <a:p>
            <a:pPr algn="ctr"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tx2"/>
                </a:solidFill>
              </a:rPr>
              <a:t>Fails: low light, glare</a:t>
            </a:r>
            <a:endParaRPr lang="en-US" sz="1400" dirty="0"/>
          </a:p>
        </p:txBody>
      </p:sp>
      <p:sp>
        <p:nvSpPr>
          <p:cNvPr id="7" name="card Thermal Infrared"/>
          <p:cNvSpPr/>
          <p:nvPr/>
        </p:nvSpPr>
        <p:spPr>
          <a:xfrm>
            <a:off x="4279392" y="1325880"/>
            <a:ext cx="3639312" cy="1325880"/>
          </a:xfrm>
          <a:prstGeom prst="rect">
            <a:avLst/>
          </a:prstGeom>
          <a:solidFill>
            <a:srgbClr val="F5F8FC"/>
          </a:solidFill>
          <a:ln w="15875">
            <a:solidFill>
              <a:srgbClr val="C00000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4416552" y="1417320"/>
            <a:ext cx="33649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00000"/>
                </a:solidFill>
              </a:rPr>
              <a:t>Thermal Infrared</a:t>
            </a:r>
            <a:endParaRPr lang="en-US" sz="1800" dirty="0"/>
          </a:p>
        </p:txBody>
      </p:sp>
      <p:sp>
        <p:nvSpPr>
          <p:cNvPr id="9" name="Text 6"/>
          <p:cNvSpPr txBox="1"/>
          <p:nvPr/>
        </p:nvSpPr>
        <p:spPr>
          <a:xfrm>
            <a:off x="4416552" y="1828800"/>
            <a:ext cx="336499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tx2"/>
                </a:solidFill>
              </a:rPr>
              <a:t>Heat signatures, works at night</a:t>
            </a:r>
            <a:endParaRPr lang="en-US" sz="1400" dirty="0"/>
          </a:p>
          <a:p>
            <a:pPr algn="ctr"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tx2"/>
                </a:solidFill>
              </a:rPr>
              <a:t>Fails: lacks texture detail</a:t>
            </a:r>
            <a:endParaRPr lang="en-US" sz="1400" dirty="0"/>
          </a:p>
        </p:txBody>
      </p:sp>
      <p:sp>
        <p:nvSpPr>
          <p:cNvPr id="10" name="card LiDAR Depth"/>
          <p:cNvSpPr/>
          <p:nvPr/>
        </p:nvSpPr>
        <p:spPr>
          <a:xfrm>
            <a:off x="8147304" y="1325880"/>
            <a:ext cx="3639312" cy="1325880"/>
          </a:xfrm>
          <a:prstGeom prst="rect">
            <a:avLst/>
          </a:prstGeom>
          <a:solidFill>
            <a:srgbClr val="F5F8FC"/>
          </a:solidFill>
          <a:ln w="15875">
            <a:solidFill>
              <a:srgbClr val="00A651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8284464" y="1417320"/>
            <a:ext cx="33649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A651"/>
                </a:solidFill>
              </a:rPr>
              <a:t>LiDAR Depth</a:t>
            </a:r>
            <a:endParaRPr lang="en-US" sz="1800" dirty="0"/>
          </a:p>
        </p:txBody>
      </p:sp>
      <p:sp>
        <p:nvSpPr>
          <p:cNvPr id="12" name="Text 9"/>
          <p:cNvSpPr txBox="1"/>
          <p:nvPr/>
        </p:nvSpPr>
        <p:spPr>
          <a:xfrm>
            <a:off x="8284464" y="1828800"/>
            <a:ext cx="336499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tx2"/>
                </a:solidFill>
              </a:rPr>
              <a:t>Accurate 3D distance</a:t>
            </a:r>
            <a:endParaRPr lang="en-US" sz="1400" dirty="0"/>
          </a:p>
          <a:p>
            <a:pPr algn="ctr"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tx2"/>
                </a:solidFill>
              </a:rPr>
              <a:t>Fails: sparse, weather-sensitive</a:t>
            </a:r>
            <a:endParaRPr lang="en-US" sz="1400" dirty="0"/>
          </a:p>
        </p:txBody>
      </p:sp>
      <p:sp>
        <p:nvSpPr>
          <p:cNvPr id="13" name="Text 10"/>
          <p:cNvSpPr txBox="1"/>
          <p:nvPr/>
        </p:nvSpPr>
        <p:spPr>
          <a:xfrm>
            <a:off x="411480" y="2880360"/>
            <a:ext cx="5486400" cy="4114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0070C0"/>
                </a:solidFill>
              </a:rPr>
              <a:t>Fusion Paradigms</a:t>
            </a:r>
            <a:endParaRPr lang="en-US" sz="1800" dirty="0"/>
          </a:p>
        </p:txBody>
      </p:sp>
      <p:sp>
        <p:nvSpPr>
          <p:cNvPr id="14" name="card Early Fusion"/>
          <p:cNvSpPr/>
          <p:nvPr/>
        </p:nvSpPr>
        <p:spPr>
          <a:xfrm>
            <a:off x="411480" y="3337560"/>
            <a:ext cx="3639312" cy="2011680"/>
          </a:xfrm>
          <a:prstGeom prst="rect">
            <a:avLst/>
          </a:prstGeom>
          <a:solidFill>
            <a:srgbClr val="F5F8FC"/>
          </a:solidFill>
          <a:ln w="15875">
            <a:solidFill>
              <a:srgbClr val="F39C12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548640" y="3429000"/>
            <a:ext cx="33649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39C12"/>
                </a:solidFill>
              </a:rPr>
              <a:t>Early Fusion</a:t>
            </a:r>
            <a:endParaRPr lang="en-US" sz="1600" dirty="0"/>
          </a:p>
        </p:txBody>
      </p:sp>
      <p:sp>
        <p:nvSpPr>
          <p:cNvPr id="16" name="Text 13"/>
          <p:cNvSpPr txBox="1"/>
          <p:nvPr/>
        </p:nvSpPr>
        <p:spPr>
          <a:xfrm>
            <a:off x="548640" y="3840480"/>
            <a:ext cx="3364992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tx2"/>
                </a:solidFill>
              </a:rPr>
              <a:t>Concatenates raw sensor inputs before feature extraction. Simple, but sensitive to calibration errors and to failure of any one input.</a:t>
            </a:r>
            <a:endParaRPr lang="en-US" sz="1400" dirty="0"/>
          </a:p>
        </p:txBody>
      </p:sp>
      <p:sp>
        <p:nvSpPr>
          <p:cNvPr id="17" name="card Late Fusion"/>
          <p:cNvSpPr/>
          <p:nvPr/>
        </p:nvSpPr>
        <p:spPr>
          <a:xfrm>
            <a:off x="4279392" y="3337560"/>
            <a:ext cx="3639312" cy="2011680"/>
          </a:xfrm>
          <a:prstGeom prst="rect">
            <a:avLst/>
          </a:prstGeom>
          <a:solidFill>
            <a:srgbClr val="F5F8FC"/>
          </a:solidFill>
          <a:ln w="15875">
            <a:solidFill>
              <a:srgbClr val="C00000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4416552" y="3429000"/>
            <a:ext cx="33649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C00000"/>
                </a:solidFill>
              </a:rPr>
              <a:t>Late Fusion</a:t>
            </a:r>
            <a:endParaRPr lang="en-US" sz="1600" dirty="0"/>
          </a:p>
        </p:txBody>
      </p:sp>
      <p:sp>
        <p:nvSpPr>
          <p:cNvPr id="19" name="Text 16"/>
          <p:cNvSpPr txBox="1"/>
          <p:nvPr/>
        </p:nvSpPr>
        <p:spPr>
          <a:xfrm>
            <a:off x="4416552" y="3840480"/>
            <a:ext cx="3364992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tx2"/>
                </a:solidFill>
              </a:rPr>
              <a:t>Combines decisions or features from independent networks. Misses cross-modal feature interactions.</a:t>
            </a:r>
            <a:endParaRPr lang="en-US" sz="1400" dirty="0"/>
          </a:p>
        </p:txBody>
      </p:sp>
      <p:sp>
        <p:nvSpPr>
          <p:cNvPr id="20" name="card Intermediate Fusion"/>
          <p:cNvSpPr/>
          <p:nvPr/>
        </p:nvSpPr>
        <p:spPr>
          <a:xfrm>
            <a:off x="8147304" y="3337560"/>
            <a:ext cx="3639312" cy="2011680"/>
          </a:xfrm>
          <a:prstGeom prst="rect">
            <a:avLst/>
          </a:prstGeom>
          <a:solidFill>
            <a:srgbClr val="F5F8FC"/>
          </a:solidFill>
          <a:ln w="15875">
            <a:solidFill>
              <a:srgbClr val="0070C0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8284464" y="3429000"/>
            <a:ext cx="33649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070C0"/>
                </a:solidFill>
              </a:rPr>
              <a:t>Intermediate Fusion</a:t>
            </a:r>
            <a:endParaRPr lang="en-US" sz="1600" dirty="0"/>
          </a:p>
        </p:txBody>
      </p:sp>
      <p:sp>
        <p:nvSpPr>
          <p:cNvPr id="22" name="Text 19"/>
          <p:cNvSpPr txBox="1"/>
          <p:nvPr/>
        </p:nvSpPr>
        <p:spPr>
          <a:xfrm>
            <a:off x="8284464" y="3840480"/>
            <a:ext cx="3364992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tx2"/>
                </a:solidFill>
              </a:rPr>
              <a:t>Integrates learned features. Best accuracy; AFTMSF uses this with confidence-based weighting.</a:t>
            </a:r>
            <a:endParaRPr lang="en-US" sz="1400" dirty="0"/>
          </a:p>
        </p:txBody>
      </p:sp>
      <p:sp>
        <p:nvSpPr>
          <p:cNvPr id="23" name="Text 20"/>
          <p:cNvSpPr txBox="1"/>
          <p:nvPr/>
        </p:nvSpPr>
        <p:spPr>
          <a:xfrm>
            <a:off x="411480" y="5669280"/>
            <a:ext cx="11368735" cy="38404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300" b="1" i="1" dirty="0">
                <a:solidFill>
                  <a:srgbClr val="0070C0"/>
                </a:solidFill>
              </a:rPr>
              <a:t>AFTMSF uses intermediate fusion with cross-modal attention, weighted at runtime by a per-sensor confidence score.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23015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F7F7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idx="102" type="title" hasCustomPrompt="1"/>
          </p:nvPr>
        </p:nvSpPr>
        <p:spPr>
          <a:xfrm>
            <a:off x="411480" y="365760"/>
            <a:ext cx="1136873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</a:rPr>
              <a:t>Challenges in Autonomous Perception</a:t>
            </a:r>
            <a:endParaRPr lang="en-US" sz="3200" dirty="0"/>
          </a:p>
        </p:txBody>
      </p:sp>
      <p:sp>
        <p:nvSpPr>
          <p:cNvPr id="3" name="card Adverse Weather"/>
          <p:cNvSpPr/>
          <p:nvPr/>
        </p:nvSpPr>
        <p:spPr>
          <a:xfrm>
            <a:off x="411480" y="1325880"/>
            <a:ext cx="3639312" cy="2194560"/>
          </a:xfrm>
          <a:prstGeom prst="rect">
            <a:avLst/>
          </a:prstGeom>
          <a:solidFill>
            <a:srgbClr val="F5F8FC"/>
          </a:solidFill>
          <a:ln w="15875">
            <a:solidFill>
              <a:srgbClr val="0070C0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1417320"/>
            <a:ext cx="33649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70C0"/>
                </a:solidFill>
              </a:rPr>
              <a:t>Adverse Weather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828800"/>
            <a:ext cx="3364992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tx2"/>
                </a:solidFill>
              </a:rPr>
              <a:t>Rain, fog and snow degrade RGB and LiDAR. Thermal is more robust but also affected at extremes.</a:t>
            </a:r>
            <a:endParaRPr lang="en-US" sz="1400" dirty="0"/>
          </a:p>
        </p:txBody>
      </p:sp>
      <p:sp>
        <p:nvSpPr>
          <p:cNvPr id="6" name="card Low Illumination"/>
          <p:cNvSpPr/>
          <p:nvPr/>
        </p:nvSpPr>
        <p:spPr>
          <a:xfrm>
            <a:off x="4279392" y="1325880"/>
            <a:ext cx="3639312" cy="2194560"/>
          </a:xfrm>
          <a:prstGeom prst="rect">
            <a:avLst/>
          </a:prstGeom>
          <a:solidFill>
            <a:srgbClr val="F5F8FC"/>
          </a:solidFill>
          <a:ln w="15875">
            <a:solidFill>
              <a:srgbClr val="C0000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416552" y="1417320"/>
            <a:ext cx="33649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00000"/>
                </a:solidFill>
              </a:rPr>
              <a:t>Low Illumination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4416552" y="1828800"/>
            <a:ext cx="3364992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tx2"/>
                </a:solidFill>
              </a:rPr>
              <a:t>RGB cameras fail in darkness. Thermal infrared is the essential complement for night driving.</a:t>
            </a:r>
            <a:endParaRPr lang="en-US" sz="1400" dirty="0"/>
          </a:p>
        </p:txBody>
      </p:sp>
      <p:sp>
        <p:nvSpPr>
          <p:cNvPr id="9" name="card Hardware Faults"/>
          <p:cNvSpPr/>
          <p:nvPr/>
        </p:nvSpPr>
        <p:spPr>
          <a:xfrm>
            <a:off x="8147304" y="1325880"/>
            <a:ext cx="3639312" cy="2194560"/>
          </a:xfrm>
          <a:prstGeom prst="rect">
            <a:avLst/>
          </a:prstGeom>
          <a:solidFill>
            <a:srgbClr val="F5F8FC"/>
          </a:solidFill>
          <a:ln w="15875">
            <a:solidFill>
              <a:srgbClr val="00A651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284464" y="1417320"/>
            <a:ext cx="33649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A651"/>
                </a:solidFill>
              </a:rPr>
              <a:t>Hardware Faults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8284464" y="1828800"/>
            <a:ext cx="3364992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tx2"/>
                </a:solidFill>
              </a:rPr>
              <a:t>Sensor malfunction or calibration drift produces unreliable data with no warning to the fusion module.</a:t>
            </a:r>
            <a:endParaRPr lang="en-US" sz="1400" dirty="0"/>
          </a:p>
        </p:txBody>
      </p:sp>
      <p:sp>
        <p:nvSpPr>
          <p:cNvPr id="12" name="card Partial Occlusion"/>
          <p:cNvSpPr/>
          <p:nvPr/>
        </p:nvSpPr>
        <p:spPr>
          <a:xfrm>
            <a:off x="411480" y="3749040"/>
            <a:ext cx="3639312" cy="2194560"/>
          </a:xfrm>
          <a:prstGeom prst="rect">
            <a:avLst/>
          </a:prstGeom>
          <a:solidFill>
            <a:srgbClr val="F5F8FC"/>
          </a:solidFill>
          <a:ln w="15875">
            <a:solidFill>
              <a:srgbClr val="7B3FE4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48640" y="3840480"/>
            <a:ext cx="33649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7B3FE4"/>
                </a:solidFill>
              </a:rPr>
              <a:t>Partial Occlusion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548640" y="4251960"/>
            <a:ext cx="3364992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tx2"/>
                </a:solidFill>
              </a:rPr>
              <a:t>Objects blocked from one sensor remain detectable through the others, if fusion is done well.</a:t>
            </a:r>
            <a:endParaRPr lang="en-US" sz="1400" dirty="0"/>
          </a:p>
        </p:txBody>
      </p:sp>
      <p:sp>
        <p:nvSpPr>
          <p:cNvPr id="15" name="card Real-Time Constraints"/>
          <p:cNvSpPr/>
          <p:nvPr/>
        </p:nvSpPr>
        <p:spPr>
          <a:xfrm>
            <a:off x="4279392" y="3749040"/>
            <a:ext cx="3639312" cy="2194560"/>
          </a:xfrm>
          <a:prstGeom prst="rect">
            <a:avLst/>
          </a:prstGeom>
          <a:solidFill>
            <a:srgbClr val="F5F8FC"/>
          </a:solidFill>
          <a:ln w="15875">
            <a:solidFill>
              <a:srgbClr val="0E9488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416552" y="3840480"/>
            <a:ext cx="33649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E9488"/>
                </a:solidFill>
              </a:rPr>
              <a:t>Real-Time Constraints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4416552" y="4251960"/>
            <a:ext cx="3364992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tx2"/>
                </a:solidFill>
              </a:rPr>
              <a:t>Perception must run at ≥ 10 FPS. Large multi-sensor models risk missing the latency budget.</a:t>
            </a:r>
            <a:endParaRPr lang="en-US" sz="1400" dirty="0"/>
          </a:p>
        </p:txBody>
      </p:sp>
      <p:sp>
        <p:nvSpPr>
          <p:cNvPr id="18" name="card Fixed-Weight Assumption"/>
          <p:cNvSpPr/>
          <p:nvPr/>
        </p:nvSpPr>
        <p:spPr>
          <a:xfrm>
            <a:off x="8147304" y="3749040"/>
            <a:ext cx="3639312" cy="2194560"/>
          </a:xfrm>
          <a:prstGeom prst="rect">
            <a:avLst/>
          </a:prstGeom>
          <a:solidFill>
            <a:srgbClr val="F5F8FC"/>
          </a:solidFill>
          <a:ln w="15875">
            <a:solidFill>
              <a:srgbClr val="F39C12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8284464" y="3840480"/>
            <a:ext cx="33649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39C12"/>
                </a:solidFill>
              </a:rPr>
              <a:t>Fixed-Weight Assumption</a:t>
            </a:r>
            <a:endParaRPr lang="en-US" sz="1800" dirty="0"/>
          </a:p>
        </p:txBody>
      </p:sp>
      <p:sp>
        <p:nvSpPr>
          <p:cNvPr id="20" name="Text 18"/>
          <p:cNvSpPr txBox="1"/>
          <p:nvPr/>
        </p:nvSpPr>
        <p:spPr>
          <a:xfrm>
            <a:off x="8284464" y="4251960"/>
            <a:ext cx="3364992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tx2"/>
                </a:solidFill>
              </a:rPr>
              <a:t>Most fusion models weight sensors the same way regardless of their state at runtime.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23015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F7F7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idx="102" type="title" hasCustomPrompt="1"/>
          </p:nvPr>
        </p:nvSpPr>
        <p:spPr>
          <a:xfrm>
            <a:off x="411480" y="365760"/>
            <a:ext cx="1136873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</a:rPr>
              <a:t>Problem Formulation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11480" y="1325880"/>
            <a:ext cx="11368735" cy="1828800"/>
          </a:xfrm>
          <a:prstGeom prst="rect">
            <a:avLst/>
          </a:prstGeom>
          <a:solidFill>
            <a:srgbClr val="EEF4FB"/>
          </a:solidFill>
          <a:ln w="15875">
            <a:solidFill>
              <a:srgbClr val="0070C0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94360" y="1417320"/>
            <a:ext cx="11002975" cy="16916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700" b="1" dirty="0">
                <a:solidFill>
                  <a:srgbClr val="0070C0"/>
                </a:solidFill>
              </a:rPr>
              <a:t>Formal problem statement</a:t>
            </a:r>
            <a:endParaRPr lang="en-US" sz="15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500" dirty="0">
                <a:solidFill>
                  <a:schemeClr val="tx2"/>
                </a:solidFill>
              </a:rPr>
              <a:t>Given N sensor inputs {x₁, …, x_N}, where any xᵢ may be degraded by adverse conditions or hardware faults, design a fusion function F that:</a:t>
            </a:r>
            <a:endParaRPr lang="en-US" sz="15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500" dirty="0">
                <a:solidFill>
                  <a:srgbClr val="0070C0"/>
                </a:solidFill>
              </a:rPr>
              <a:t>estimates a confidence cᵢ ∈ [0, 1] for each sensor at runtime, without fault labels at inference</a:t>
            </a:r>
            <a:endParaRPr lang="en-US" sz="15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500" dirty="0">
                <a:solidFill>
                  <a:srgbClr val="0070C0"/>
                </a:solidFill>
              </a:rPr>
              <a:t>weights each sensor's contribution with wᵢ = softmax(c / τ)</a:t>
            </a:r>
            <a:endParaRPr lang="en-US" sz="15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500" dirty="0">
                <a:solidFill>
                  <a:srgbClr val="0070C0"/>
                </a:solidFill>
              </a:rPr>
              <a:t>keeps detection and segmentation as accurate as possible under partial sensor failure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411480" y="3383280"/>
            <a:ext cx="7315200" cy="4114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C00000"/>
                </a:solidFill>
              </a:rPr>
              <a:t>Individual Sensor Weaknesses</a:t>
            </a:r>
            <a:endParaRPr lang="en-US" sz="1800" dirty="0"/>
          </a:p>
        </p:txBody>
      </p:sp>
      <p:sp>
        <p:nvSpPr>
          <p:cNvPr id="6" name="card RGB Camera"/>
          <p:cNvSpPr/>
          <p:nvPr/>
        </p:nvSpPr>
        <p:spPr>
          <a:xfrm>
            <a:off x="411480" y="3886200"/>
            <a:ext cx="3639312" cy="1600200"/>
          </a:xfrm>
          <a:prstGeom prst="rect">
            <a:avLst/>
          </a:prstGeom>
          <a:solidFill>
            <a:srgbClr val="FDF3F3"/>
          </a:solidFill>
          <a:ln w="15875">
            <a:solidFill>
              <a:srgbClr val="C0000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48640" y="3977640"/>
            <a:ext cx="33649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00000"/>
                </a:solidFill>
              </a:rPr>
              <a:t>RGB Camera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4389120"/>
            <a:ext cx="336499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tx2"/>
                </a:solidFill>
              </a:rPr>
              <a:t>Fails in low light, glare and heavy rain or fog. Cannot sense heat.</a:t>
            </a:r>
            <a:endParaRPr lang="en-US" sz="1400" dirty="0"/>
          </a:p>
        </p:txBody>
      </p:sp>
      <p:sp>
        <p:nvSpPr>
          <p:cNvPr id="9" name="card Thermal Infrared"/>
          <p:cNvSpPr/>
          <p:nvPr/>
        </p:nvSpPr>
        <p:spPr>
          <a:xfrm>
            <a:off x="4279392" y="3886200"/>
            <a:ext cx="3639312" cy="1600200"/>
          </a:xfrm>
          <a:prstGeom prst="rect">
            <a:avLst/>
          </a:prstGeom>
          <a:solidFill>
            <a:srgbClr val="FDF3F3"/>
          </a:solidFill>
          <a:ln w="15875">
            <a:solidFill>
              <a:srgbClr val="C00000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416552" y="3977640"/>
            <a:ext cx="33649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00000"/>
                </a:solidFill>
              </a:rPr>
              <a:t>Thermal Infrared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4416552" y="4389120"/>
            <a:ext cx="336499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tx2"/>
                </a:solidFill>
              </a:rPr>
              <a:t>Lacks texture detail. Cannot separate objects at equal temperatures.</a:t>
            </a:r>
            <a:endParaRPr lang="en-US" sz="1400" dirty="0"/>
          </a:p>
        </p:txBody>
      </p:sp>
      <p:sp>
        <p:nvSpPr>
          <p:cNvPr id="12" name="card LiDAR"/>
          <p:cNvSpPr/>
          <p:nvPr/>
        </p:nvSpPr>
        <p:spPr>
          <a:xfrm>
            <a:off x="8147304" y="3886200"/>
            <a:ext cx="3639312" cy="1600200"/>
          </a:xfrm>
          <a:prstGeom prst="rect">
            <a:avLst/>
          </a:prstGeom>
          <a:solidFill>
            <a:srgbClr val="FDF3F3"/>
          </a:solidFill>
          <a:ln w="15875">
            <a:solidFill>
              <a:srgbClr val="C00000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284464" y="3977640"/>
            <a:ext cx="33649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00000"/>
                </a:solidFill>
              </a:rPr>
              <a:t>LiDAR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8284464" y="4389120"/>
            <a:ext cx="336499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tx2"/>
                </a:solidFill>
              </a:rPr>
              <a:t>Sparse point clouds. Degraded by rain, dust and sensor contamination.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411480" y="5715000"/>
            <a:ext cx="11368735" cy="38404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300" b="1" i="1" dirty="0">
                <a:solidFill>
                  <a:srgbClr val="C00000"/>
                </a:solidFill>
              </a:rPr>
              <a:t>Fixed-weight fusion keeps trusting a sensor after it fails.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23015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F7F7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idx="102" type="title" hasCustomPrompt="1"/>
          </p:nvPr>
        </p:nvSpPr>
        <p:spPr>
          <a:xfrm>
            <a:off x="411480" y="365760"/>
            <a:ext cx="1136873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</a:rPr>
              <a:t>Motivation of the Project</a:t>
            </a:r>
            <a:endParaRPr lang="en-US" sz="3200" dirty="0"/>
          </a:p>
        </p:txBody>
      </p:sp>
      <p:sp>
        <p:nvSpPr>
          <p:cNvPr id="4" name="Text 1"/>
          <p:cNvSpPr txBox="1"/>
          <p:nvPr/>
        </p:nvSpPr>
        <p:spPr>
          <a:xfrm>
            <a:off x="411480" y="1280160"/>
            <a:ext cx="6035040" cy="4937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800" b="1" dirty="0">
                <a:solidFill>
                  <a:srgbClr val="C00000"/>
                </a:solidFill>
              </a:rPr>
              <a:t>Why existing systems fail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500" dirty="0">
                <a:solidFill>
                  <a:schemeClr val="tx2"/>
                </a:solidFill>
              </a:rPr>
              <a:t>Most fusion networks give each sensor a fixed role, whatever its state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500" dirty="0">
                <a:solidFill>
                  <a:schemeClr val="tx2"/>
                </a:solidFill>
              </a:rPr>
              <a:t>Fault detection is usually studied separately from fusion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500" dirty="0">
                <a:solidFill>
                  <a:schemeClr val="tx2"/>
                </a:solidFill>
              </a:rPr>
              <a:t>In our tests, conventional fusion baselines drop to 0% mAP when the RGB camera fails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500" dirty="0">
                <a:solidFill>
                  <a:schemeClr val="tx2"/>
                </a:solidFill>
              </a:rPr>
              <a:t>Safety-critical systems need graceful degradation, not collapse</a:t>
            </a:r>
            <a:endParaRPr lang="en-US" sz="15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500" dirty="0">
                <a:solidFill>
                  <a:schemeClr val="tx2"/>
                </a:solidFill>
              </a:rPr>
              <a:t> </a:t>
            </a:r>
            <a:endParaRPr lang="en-US" sz="15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800" b="1" dirty="0">
                <a:solidFill>
                  <a:srgbClr val="00A651"/>
                </a:solidFill>
              </a:rPr>
              <a:t>What this project achieves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500" dirty="0">
                <a:solidFill>
                  <a:schemeClr val="tx2"/>
                </a:solidFill>
              </a:rPr>
              <a:t>Fault detector built into cross-modal attention fusion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500" dirty="0">
                <a:solidFill>
                  <a:schemeClr val="tx2"/>
                </a:solidFill>
              </a:rPr>
              <a:t>Three-signal confidence score with no fault labels at inference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500" dirty="0">
                <a:solidFill>
                  <a:schemeClr val="tx2"/>
                </a:solidFill>
              </a:rPr>
              <a:t>63.85% mAP when the RGB camera fails completely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500" dirty="0">
                <a:solidFill>
                  <a:schemeClr val="tx2"/>
                </a:solidFill>
              </a:rPr>
              <a:t>89.14% mAP@0.5 on KAIST, best of all methods we trained</a:t>
            </a:r>
            <a:endParaRPr lang="en-US" sz="1500" dirty="0"/>
          </a:p>
        </p:txBody>
      </p:sp>
      <p:sp>
        <p:nvSpPr>
          <p:cNvPr id="5" name="Shape 2"/>
          <p:cNvSpPr/>
          <p:nvPr/>
        </p:nvSpPr>
        <p:spPr>
          <a:xfrm>
            <a:off x="6720840" y="1371600"/>
            <a:ext cx="2423160" cy="2194560"/>
          </a:xfrm>
          <a:prstGeom prst="rect">
            <a:avLst/>
          </a:prstGeom>
          <a:solidFill>
            <a:srgbClr val="F5F8FC"/>
          </a:solidFill>
          <a:ln w="15875">
            <a:solidFill>
              <a:srgbClr val="0070C0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6720840" y="1481328"/>
            <a:ext cx="2423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070C0"/>
                </a:solidFill>
              </a:rPr>
              <a:t>89.14%</a:t>
            </a:r>
            <a:endParaRPr lang="en-US" sz="3200" dirty="0"/>
          </a:p>
        </p:txBody>
      </p:sp>
      <p:sp>
        <p:nvSpPr>
          <p:cNvPr id="7" name="Text 4"/>
          <p:cNvSpPr txBox="1"/>
          <p:nvPr/>
        </p:nvSpPr>
        <p:spPr>
          <a:xfrm>
            <a:off x="6812280" y="2578608"/>
            <a:ext cx="224028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dirty="0">
                <a:solidFill>
                  <a:schemeClr val="tx2"/>
                </a:solidFill>
              </a:rPr>
              <a:t>mAP@0.5 on KAIST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9326880" y="1371600"/>
            <a:ext cx="2423160" cy="2194560"/>
          </a:xfrm>
          <a:prstGeom prst="rect">
            <a:avLst/>
          </a:prstGeom>
          <a:solidFill>
            <a:srgbClr val="EEF9F1"/>
          </a:solidFill>
          <a:ln w="15875">
            <a:solidFill>
              <a:srgbClr val="00A651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9326880" y="1481328"/>
            <a:ext cx="2423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0A651"/>
                </a:solidFill>
              </a:rPr>
              <a:t>+11.25 pp</a:t>
            </a:r>
            <a:endParaRPr lang="en-US" sz="3200" dirty="0"/>
          </a:p>
        </p:txBody>
      </p:sp>
      <p:sp>
        <p:nvSpPr>
          <p:cNvPr id="10" name="Text 7"/>
          <p:cNvSpPr txBox="1"/>
          <p:nvPr/>
        </p:nvSpPr>
        <p:spPr>
          <a:xfrm>
            <a:off x="9418320" y="2578608"/>
            <a:ext cx="224028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dirty="0">
                <a:solidFill>
                  <a:schemeClr val="tx2"/>
                </a:solidFill>
              </a:rPr>
              <a:t>over the best baseline (Late Fusion)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6720840" y="3794760"/>
            <a:ext cx="2423160" cy="2194560"/>
          </a:xfrm>
          <a:prstGeom prst="rect">
            <a:avLst/>
          </a:prstGeom>
          <a:solidFill>
            <a:srgbClr val="F5F8FC"/>
          </a:solidFill>
          <a:ln w="15875">
            <a:solidFill>
              <a:srgbClr val="C00000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6720840" y="3904488"/>
            <a:ext cx="2423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C00000"/>
                </a:solidFill>
              </a:rPr>
              <a:t>63.85%</a:t>
            </a:r>
            <a:endParaRPr lang="en-US" sz="3200" dirty="0"/>
          </a:p>
        </p:txBody>
      </p:sp>
      <p:sp>
        <p:nvSpPr>
          <p:cNvPr id="13" name="Text 10"/>
          <p:cNvSpPr txBox="1"/>
          <p:nvPr/>
        </p:nvSpPr>
        <p:spPr>
          <a:xfrm>
            <a:off x="6812280" y="5001768"/>
            <a:ext cx="224028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dirty="0">
                <a:solidFill>
                  <a:schemeClr val="tx2"/>
                </a:solidFill>
              </a:rPr>
              <a:t>mAP with RGB camera failed (baselines: 0%)</a:t>
            </a:r>
            <a:endParaRPr lang="en-US" sz="1250" dirty="0"/>
          </a:p>
        </p:txBody>
      </p:sp>
      <p:sp>
        <p:nvSpPr>
          <p:cNvPr id="14" name="Shape 11"/>
          <p:cNvSpPr/>
          <p:nvPr/>
        </p:nvSpPr>
        <p:spPr>
          <a:xfrm>
            <a:off x="9326880" y="3794760"/>
            <a:ext cx="2423160" cy="2194560"/>
          </a:xfrm>
          <a:prstGeom prst="rect">
            <a:avLst/>
          </a:prstGeom>
          <a:solidFill>
            <a:srgbClr val="F4F0FD"/>
          </a:solidFill>
          <a:ln w="15875">
            <a:solidFill>
              <a:srgbClr val="7B3FE4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9326880" y="3904488"/>
            <a:ext cx="2423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7B3FE4"/>
                </a:solidFill>
              </a:rPr>
              <a:t>22.2 FPS</a:t>
            </a:r>
            <a:endParaRPr lang="en-US" sz="3200" dirty="0"/>
          </a:p>
        </p:txBody>
      </p:sp>
      <p:sp>
        <p:nvSpPr>
          <p:cNvPr id="16" name="Text 13"/>
          <p:cNvSpPr txBox="1"/>
          <p:nvPr/>
        </p:nvSpPr>
        <p:spPr>
          <a:xfrm>
            <a:off x="9418320" y="5001768"/>
            <a:ext cx="224028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dirty="0">
                <a:solidFill>
                  <a:schemeClr val="tx2"/>
                </a:solidFill>
              </a:rPr>
              <a:t>on a 6 GB laptop GPU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23015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F7F7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idx="102" type="title" hasCustomPrompt="1"/>
          </p:nvPr>
        </p:nvSpPr>
        <p:spPr>
          <a:xfrm>
            <a:off x="411480" y="365760"/>
            <a:ext cx="1136873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</a:rPr>
              <a:t>Existing Systems in Multi-Sensor Fusion</a:t>
            </a:r>
            <a:endParaRPr lang="en-US" sz="32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1325880"/>
          <a:ext cx="11368735" cy="914400"/>
        </p:xfrm>
        <a:graphic>
          <a:graphicData uri="http://schemas.openxmlformats.org/drawingml/2006/table">
            <a:tbl>
              <a:tblPr/>
              <a:tblGrid>
                <a:gridCol w="1920240"/>
                <a:gridCol w="731520"/>
                <a:gridCol w="1828800"/>
                <a:gridCol w="2194560"/>
                <a:gridCol w="2011680"/>
                <a:gridCol w="2679192"/>
              </a:tblGrid>
              <a:tr h="5669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Method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Year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Sensors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Fusion approach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Runtime sensor reliability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Limitation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IAF R-CNN [19]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2019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RGB + thermal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Illumination-weighted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Illumination only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Handles day/night, not sensor faults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Bijelic et al. [7]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Camera, LiDAR, radar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Entropy-steered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Partial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Built for weather, not hardware failure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CFT [20]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RGB + thermal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Cross-modality transformer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Attention not tied to sensor health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TransFuser [10]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Camera + LiDAR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Transformer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explicit fault detection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BEVFusion [11]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Camera + LiDAR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Bird's-eye view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 compute; fixed fusion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Wang et al. [12]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Various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Fault detection survey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 (separate)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 connected to fusion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1"/>
          <p:cNvSpPr txBox="1"/>
          <p:nvPr/>
        </p:nvSpPr>
        <p:spPr>
          <a:xfrm>
            <a:off x="411480" y="5669280"/>
            <a:ext cx="11368735" cy="38404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300" b="1" i="1" dirty="0">
                <a:solidFill>
                  <a:srgbClr val="C00000"/>
                </a:solidFill>
              </a:rPr>
              <a:t>Gap: a fault signal that directly controls how much each sensor contributes to the fused features.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23015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F7F7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idx="102" type="title" hasCustomPrompt="1"/>
          </p:nvPr>
        </p:nvSpPr>
        <p:spPr>
          <a:xfrm>
            <a:off x="411480" y="365760"/>
            <a:ext cx="1136873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</a:rPr>
              <a:t>Research Gap Analysis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11480" y="1280160"/>
            <a:ext cx="11368735" cy="841248"/>
          </a:xfrm>
          <a:prstGeom prst="rect">
            <a:avLst/>
          </a:prstGeom>
          <a:solidFill>
            <a:srgbClr val="F5F8FC"/>
          </a:solidFill>
          <a:ln w="9525">
            <a:solidFill>
              <a:srgbClr val="D0D7E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11480" y="1280160"/>
            <a:ext cx="548640" cy="841248"/>
          </a:xfrm>
          <a:prstGeom prst="rect">
            <a:avLst/>
          </a:prstGeom>
          <a:solidFill>
            <a:srgbClr val="0070C0"/>
          </a:solidFill>
          <a:ln w="9525">
            <a:solidFill>
              <a:srgbClr val="0070C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11480" y="1280160"/>
            <a:ext cx="5486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1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1097280" y="1325880"/>
            <a:ext cx="10545775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000000"/>
                </a:solidFill>
              </a:rPr>
              <a:t>No adaptive weight redistribution</a:t>
            </a:r>
            <a:endParaRPr lang="en-US" sz="15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50" dirty="0">
                <a:solidFill>
                  <a:schemeClr val="tx2"/>
                </a:solidFill>
              </a:rPr>
              <a:t>Most methods use fixed or pre-computed fusion weights, not weights driven by sensor health at inference time.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9037015" y="1280160"/>
            <a:ext cx="2606040" cy="84124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r" indent="0" marL="0">
              <a:buNone/>
            </a:pPr>
            <a:r>
              <a:rPr lang="en-US" sz="1200" i="1" dirty="0">
                <a:solidFill>
                  <a:srgbClr val="595959"/>
                </a:solidFill>
              </a:rPr>
              <a:t>Zhang et al. [1]; Li et al. [2]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11480" y="2240280"/>
            <a:ext cx="11368735" cy="841248"/>
          </a:xfrm>
          <a:prstGeom prst="rect">
            <a:avLst/>
          </a:prstGeom>
          <a:solidFill>
            <a:srgbClr val="F5F8FC"/>
          </a:solidFill>
          <a:ln w="9525">
            <a:solidFill>
              <a:srgbClr val="D0D7E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11480" y="2240280"/>
            <a:ext cx="548640" cy="841248"/>
          </a:xfrm>
          <a:prstGeom prst="rect">
            <a:avLst/>
          </a:prstGeom>
          <a:solidFill>
            <a:srgbClr val="0070C0"/>
          </a:solidFill>
          <a:ln w="9525">
            <a:solidFill>
              <a:srgbClr val="0070C0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11480" y="2240280"/>
            <a:ext cx="5486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2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1097280" y="2286000"/>
            <a:ext cx="10545775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000000"/>
                </a:solidFill>
              </a:rPr>
              <a:t>No integrated fault detection</a:t>
            </a:r>
            <a:endParaRPr lang="en-US" sz="15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50" dirty="0">
                <a:solidFill>
                  <a:schemeClr val="tx2"/>
                </a:solidFill>
              </a:rPr>
              <a:t>Sensor fault detection is studied separately; its output does not steer fusion.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9037015" y="2240280"/>
            <a:ext cx="2606040" cy="84124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r" indent="0" marL="0">
              <a:buNone/>
            </a:pPr>
            <a:r>
              <a:rPr lang="en-US" sz="1200" i="1" dirty="0">
                <a:solidFill>
                  <a:srgbClr val="595959"/>
                </a:solidFill>
              </a:rPr>
              <a:t>Wang et al. [12]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11480" y="3200400"/>
            <a:ext cx="11368735" cy="841248"/>
          </a:xfrm>
          <a:prstGeom prst="rect">
            <a:avLst/>
          </a:prstGeom>
          <a:solidFill>
            <a:srgbClr val="F5F8FC"/>
          </a:solidFill>
          <a:ln w="9525">
            <a:solidFill>
              <a:srgbClr val="D0D7E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11480" y="3200400"/>
            <a:ext cx="548640" cy="841248"/>
          </a:xfrm>
          <a:prstGeom prst="rect">
            <a:avLst/>
          </a:prstGeom>
          <a:solidFill>
            <a:srgbClr val="0070C0"/>
          </a:solidFill>
          <a:ln w="9525">
            <a:solidFill>
              <a:srgbClr val="0070C0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11480" y="3200400"/>
            <a:ext cx="5486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3</a:t>
            </a:r>
            <a:endParaRPr lang="en-US" sz="2000" dirty="0"/>
          </a:p>
        </p:txBody>
      </p:sp>
      <p:sp>
        <p:nvSpPr>
          <p:cNvPr id="16" name="Text 14"/>
          <p:cNvSpPr txBox="1"/>
          <p:nvPr/>
        </p:nvSpPr>
        <p:spPr>
          <a:xfrm>
            <a:off x="1097280" y="3246120"/>
            <a:ext cx="10545775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000000"/>
                </a:solidFill>
              </a:rPr>
              <a:t>Collapse under sensor failure</a:t>
            </a:r>
            <a:endParaRPr lang="en-US" sz="15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50" dirty="0">
                <a:solidFill>
                  <a:schemeClr val="tx2"/>
                </a:solidFill>
              </a:rPr>
              <a:t>Fixed fusion can fail completely when one input fails — our baselines reach 0% mAP under RGB dropout.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9037015" y="3200400"/>
            <a:ext cx="2606040" cy="84124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r" indent="0" marL="0">
              <a:buNone/>
            </a:pPr>
            <a:r>
              <a:rPr lang="en-US" sz="1200" i="1" dirty="0">
                <a:solidFill>
                  <a:srgbClr val="595959"/>
                </a:solidFill>
              </a:rPr>
              <a:t>Measured in this project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11480" y="4160520"/>
            <a:ext cx="11368735" cy="841248"/>
          </a:xfrm>
          <a:prstGeom prst="rect">
            <a:avLst/>
          </a:prstGeom>
          <a:solidFill>
            <a:srgbClr val="F5F8FC"/>
          </a:solidFill>
          <a:ln w="9525">
            <a:solidFill>
              <a:srgbClr val="D0D7E2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11480" y="4160520"/>
            <a:ext cx="548640" cy="841248"/>
          </a:xfrm>
          <a:prstGeom prst="rect">
            <a:avLst/>
          </a:prstGeom>
          <a:solidFill>
            <a:srgbClr val="0070C0"/>
          </a:solidFill>
          <a:ln w="9525">
            <a:solidFill>
              <a:srgbClr val="0070C0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411480" y="4160520"/>
            <a:ext cx="5486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4</a:t>
            </a:r>
            <a:endParaRPr lang="en-US" sz="2000" dirty="0"/>
          </a:p>
        </p:txBody>
      </p:sp>
      <p:sp>
        <p:nvSpPr>
          <p:cNvPr id="21" name="Text 19"/>
          <p:cNvSpPr txBox="1"/>
          <p:nvPr/>
        </p:nvSpPr>
        <p:spPr>
          <a:xfrm>
            <a:off x="1097280" y="4206240"/>
            <a:ext cx="10545775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000000"/>
                </a:solidFill>
              </a:rPr>
              <a:t>Combined reliability signals</a:t>
            </a:r>
            <a:endParaRPr lang="en-US" sz="15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50" dirty="0">
                <a:solidFill>
                  <a:schemeClr val="tx2"/>
                </a:solidFill>
              </a:rPr>
              <a:t>Reconstruction error, feature variance and prediction entropy are rarely combined into one confidence score.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9037015" y="4160520"/>
            <a:ext cx="2606040" cy="84124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r" indent="0" marL="0">
              <a:buNone/>
            </a:pPr>
            <a:r>
              <a:rPr lang="en-US" sz="1200" i="1" dirty="0">
                <a:solidFill>
                  <a:srgbClr val="595959"/>
                </a:solidFill>
              </a:rPr>
              <a:t>Kendall &amp; Gal [17]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11480" y="5120640"/>
            <a:ext cx="11368735" cy="841248"/>
          </a:xfrm>
          <a:prstGeom prst="rect">
            <a:avLst/>
          </a:prstGeom>
          <a:solidFill>
            <a:srgbClr val="F5F8FC"/>
          </a:solidFill>
          <a:ln w="9525">
            <a:solidFill>
              <a:srgbClr val="D0D7E2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11480" y="5120640"/>
            <a:ext cx="548640" cy="841248"/>
          </a:xfrm>
          <a:prstGeom prst="rect">
            <a:avLst/>
          </a:prstGeom>
          <a:solidFill>
            <a:srgbClr val="0070C0"/>
          </a:solidFill>
          <a:ln w="9525">
            <a:solidFill>
              <a:srgbClr val="0070C0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411480" y="5120640"/>
            <a:ext cx="5486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5</a:t>
            </a:r>
            <a:endParaRPr lang="en-US" sz="2000" dirty="0"/>
          </a:p>
        </p:txBody>
      </p:sp>
      <p:sp>
        <p:nvSpPr>
          <p:cNvPr id="26" name="Text 24"/>
          <p:cNvSpPr txBox="1"/>
          <p:nvPr/>
        </p:nvSpPr>
        <p:spPr>
          <a:xfrm>
            <a:off x="1097280" y="5166360"/>
            <a:ext cx="10545775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000000"/>
                </a:solidFill>
              </a:rPr>
              <a:t>Edge feasibility</a:t>
            </a:r>
            <a:endParaRPr lang="en-US" sz="15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50" dirty="0">
                <a:solidFill>
                  <a:schemeClr val="tx2"/>
                </a:solidFill>
              </a:rPr>
              <a:t>Strong fusion models often need server GPUs; we target a 6 GB laptop GPU.</a:t>
            </a:r>
            <a:endParaRPr lang="en-US" sz="1500" dirty="0"/>
          </a:p>
        </p:txBody>
      </p:sp>
      <p:sp>
        <p:nvSpPr>
          <p:cNvPr id="27" name="Text 25"/>
          <p:cNvSpPr txBox="1"/>
          <p:nvPr/>
        </p:nvSpPr>
        <p:spPr>
          <a:xfrm>
            <a:off x="9037015" y="5120640"/>
            <a:ext cx="2606040" cy="84124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r" indent="0" marL="0">
              <a:buNone/>
            </a:pPr>
            <a:r>
              <a:rPr lang="en-US" sz="1200" i="1" dirty="0">
                <a:solidFill>
                  <a:srgbClr val="595959"/>
                </a:solidFill>
              </a:rPr>
              <a:t>BEVFusion [11]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23015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F7F7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idx="102" type="title" hasCustomPrompt="1"/>
          </p:nvPr>
        </p:nvSpPr>
        <p:spPr>
          <a:xfrm>
            <a:off x="411480" y="365760"/>
            <a:ext cx="1136873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</a:rPr>
              <a:t>Objectives of the Project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11480" y="1325880"/>
            <a:ext cx="11368735" cy="1051560"/>
          </a:xfrm>
          <a:prstGeom prst="rect">
            <a:avLst/>
          </a:prstGeom>
          <a:solidFill>
            <a:srgbClr val="F5F8FC"/>
          </a:solidFill>
          <a:ln w="9525">
            <a:solidFill>
              <a:srgbClr val="D0D7E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11480" y="1325880"/>
            <a:ext cx="548640" cy="1051560"/>
          </a:xfrm>
          <a:prstGeom prst="rect">
            <a:avLst/>
          </a:prstGeom>
          <a:solidFill>
            <a:srgbClr val="0070C0"/>
          </a:solidFill>
          <a:ln w="9525">
            <a:solidFill>
              <a:srgbClr val="0070C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11480" y="1325880"/>
            <a:ext cx="5486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1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1097280" y="1371600"/>
            <a:ext cx="8991295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000000"/>
                </a:solidFill>
              </a:rPr>
              <a:t>Multi-modal fusion framework</a:t>
            </a:r>
            <a:endParaRPr lang="en-US" sz="15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50" dirty="0">
                <a:solidFill>
                  <a:schemeClr val="tx2"/>
                </a:solidFill>
              </a:rPr>
              <a:t>Fuse RGB, thermal infrared and LiDAR depth with ResNet-50 / depthwise-separable encoders and feature pyramid networks.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10134295" y="1325880"/>
            <a:ext cx="15544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0070C0"/>
                </a:solidFill>
              </a:rPr>
              <a:t>✓ Achieved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11480" y="2514600"/>
            <a:ext cx="11368735" cy="1051560"/>
          </a:xfrm>
          <a:prstGeom prst="rect">
            <a:avLst/>
          </a:prstGeom>
          <a:solidFill>
            <a:srgbClr val="F5F8FC"/>
          </a:solidFill>
          <a:ln w="9525">
            <a:solidFill>
              <a:srgbClr val="D0D7E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11480" y="2514600"/>
            <a:ext cx="548640" cy="1051560"/>
          </a:xfrm>
          <a:prstGeom prst="rect">
            <a:avLst/>
          </a:prstGeom>
          <a:solidFill>
            <a:srgbClr val="0070C0"/>
          </a:solidFill>
          <a:ln w="9525">
            <a:solidFill>
              <a:srgbClr val="0070C0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11480" y="2514600"/>
            <a:ext cx="5486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2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1097280" y="2560320"/>
            <a:ext cx="8991295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000000"/>
                </a:solidFill>
              </a:rPr>
              <a:t>Adaptive fusion mechanism</a:t>
            </a:r>
            <a:endParaRPr lang="en-US" sz="15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50" dirty="0">
                <a:solidFill>
                  <a:schemeClr val="tx2"/>
                </a:solidFill>
              </a:rPr>
              <a:t>Confidence-gated cross-modal attention (ACAF) that weights each sensor by its estimated reliability at inference time.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10134295" y="2514600"/>
            <a:ext cx="15544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0070C0"/>
                </a:solidFill>
              </a:rPr>
              <a:t>✓ Achieved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11480" y="3703320"/>
            <a:ext cx="11368735" cy="1051560"/>
          </a:xfrm>
          <a:prstGeom prst="rect">
            <a:avLst/>
          </a:prstGeom>
          <a:solidFill>
            <a:srgbClr val="F5F8FC"/>
          </a:solidFill>
          <a:ln w="9525">
            <a:solidFill>
              <a:srgbClr val="D0D7E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11480" y="3703320"/>
            <a:ext cx="548640" cy="1051560"/>
          </a:xfrm>
          <a:prstGeom prst="rect">
            <a:avLst/>
          </a:prstGeom>
          <a:solidFill>
            <a:srgbClr val="0070C0"/>
          </a:solidFill>
          <a:ln w="9525">
            <a:solidFill>
              <a:srgbClr val="0070C0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11480" y="3703320"/>
            <a:ext cx="5486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3</a:t>
            </a:r>
            <a:endParaRPr lang="en-US" sz="2000" dirty="0"/>
          </a:p>
        </p:txBody>
      </p:sp>
      <p:sp>
        <p:nvSpPr>
          <p:cNvPr id="16" name="Text 14"/>
          <p:cNvSpPr txBox="1"/>
          <p:nvPr/>
        </p:nvSpPr>
        <p:spPr>
          <a:xfrm>
            <a:off x="1097280" y="3749040"/>
            <a:ext cx="8991295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000000"/>
                </a:solidFill>
              </a:rPr>
              <a:t>Fault detection and graceful degradation</a:t>
            </a:r>
            <a:endParaRPr lang="en-US" sz="15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50" dirty="0">
                <a:solidFill>
                  <a:schemeClr val="tx2"/>
                </a:solidFill>
              </a:rPr>
              <a:t>Three-signal fault detector (reconstruction error, feature variance, prediction entropy) and useful performance when a sensor fails.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10134295" y="3703320"/>
            <a:ext cx="15544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0070C0"/>
                </a:solidFill>
              </a:rPr>
              <a:t>✓ Achieved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11480" y="4892040"/>
            <a:ext cx="11368735" cy="1051560"/>
          </a:xfrm>
          <a:prstGeom prst="rect">
            <a:avLst/>
          </a:prstGeom>
          <a:solidFill>
            <a:srgbClr val="F5F8FC"/>
          </a:solidFill>
          <a:ln w="9525">
            <a:solidFill>
              <a:srgbClr val="D0D7E2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11480" y="4892040"/>
            <a:ext cx="548640" cy="1051560"/>
          </a:xfrm>
          <a:prstGeom prst="rect">
            <a:avLst/>
          </a:prstGeom>
          <a:solidFill>
            <a:srgbClr val="0070C0"/>
          </a:solidFill>
          <a:ln w="9525">
            <a:solidFill>
              <a:srgbClr val="0070C0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411480" y="4892040"/>
            <a:ext cx="5486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4</a:t>
            </a:r>
            <a:endParaRPr lang="en-US" sz="2000" dirty="0"/>
          </a:p>
        </p:txBody>
      </p:sp>
      <p:sp>
        <p:nvSpPr>
          <p:cNvPr id="21" name="Text 19"/>
          <p:cNvSpPr txBox="1"/>
          <p:nvPr/>
        </p:nvSpPr>
        <p:spPr>
          <a:xfrm>
            <a:off x="1097280" y="4937760"/>
            <a:ext cx="8991295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000000"/>
                </a:solidFill>
              </a:rPr>
              <a:t>Benchmark evaluation</a:t>
            </a:r>
            <a:endParaRPr lang="en-US" sz="15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50" dirty="0">
                <a:solidFill>
                  <a:schemeClr val="tx2"/>
                </a:solidFill>
              </a:rPr>
              <a:t>KAIST, KITTI and FLIR with mAP@0.5 and mIoU; three baselines; eight fault conditions; ablations and speed.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10134295" y="4892040"/>
            <a:ext cx="15544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0070C0"/>
                </a:solidFill>
              </a:rPr>
              <a:t>✓ Achieved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411480" y="6126480"/>
            <a:ext cx="11368735" cy="38404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300" b="1" i="1" dirty="0">
                <a:solidFill>
                  <a:srgbClr val="00A651"/>
                </a:solidFill>
              </a:rPr>
              <a:t>All four objectives met — results on the following slides were re-measured in October 2026.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23015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F7F7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idx="102" type="title" hasCustomPrompt="1"/>
          </p:nvPr>
        </p:nvSpPr>
        <p:spPr>
          <a:xfrm>
            <a:off x="411480" y="365760"/>
            <a:ext cx="1136873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</a:rPr>
              <a:t>Proposed AFTMSF System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411480" y="1234440"/>
            <a:ext cx="11368735" cy="365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2"/>
                </a:solidFill>
              </a:rPr>
              <a:t>Four components, trained end to end: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11480" y="1691640"/>
            <a:ext cx="11368735" cy="960120"/>
          </a:xfrm>
          <a:prstGeom prst="rect">
            <a:avLst/>
          </a:prstGeom>
          <a:solidFill>
            <a:srgbClr val="F5F8FC"/>
          </a:solidFill>
          <a:ln w="9525">
            <a:solidFill>
              <a:srgbClr val="D0D7E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11480" y="1691640"/>
            <a:ext cx="548640" cy="960120"/>
          </a:xfrm>
          <a:prstGeom prst="rect">
            <a:avLst/>
          </a:prstGeom>
          <a:solidFill>
            <a:srgbClr val="0070C0"/>
          </a:solidFill>
          <a:ln w="9525">
            <a:solidFill>
              <a:srgbClr val="0070C0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411480" y="1691640"/>
            <a:ext cx="5486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1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1097280" y="1737360"/>
            <a:ext cx="1054577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000000"/>
                </a:solidFill>
              </a:rPr>
              <a:t>Modality encoders</a:t>
            </a:r>
            <a:endParaRPr lang="en-US" sz="15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50" dirty="0">
                <a:solidFill>
                  <a:schemeClr val="tx2"/>
                </a:solidFill>
              </a:rPr>
              <a:t>ResNet-50 + FPN for RGB and thermal (26.9M each); lightweight depthwise-separable CNN + FPN for depth (3.3M). 256-channel features at 4 scales.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11480" y="2788920"/>
            <a:ext cx="11368735" cy="960120"/>
          </a:xfrm>
          <a:prstGeom prst="rect">
            <a:avLst/>
          </a:prstGeom>
          <a:solidFill>
            <a:srgbClr val="F5F8FC"/>
          </a:solidFill>
          <a:ln w="9525">
            <a:solidFill>
              <a:srgbClr val="D0D7E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11480" y="2788920"/>
            <a:ext cx="548640" cy="960120"/>
          </a:xfrm>
          <a:prstGeom prst="rect">
            <a:avLst/>
          </a:prstGeom>
          <a:solidFill>
            <a:srgbClr val="F39C12"/>
          </a:solidFill>
          <a:ln w="9525">
            <a:solidFill>
              <a:srgbClr val="F39C1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11480" y="2788920"/>
            <a:ext cx="5486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2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1097280" y="2834640"/>
            <a:ext cx="1054577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000000"/>
                </a:solidFill>
              </a:rPr>
              <a:t>Three-signal fault detector</a:t>
            </a:r>
            <a:endParaRPr lang="en-US" sz="15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50" dirty="0">
                <a:solidFill>
                  <a:schemeClr val="tx2"/>
                </a:solidFill>
              </a:rPr>
              <a:t>Confidence cᵢ ∈ [0, 1] per sensor from reconstruction error, feature variance and prediction entropy (197,002 parameters).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411480" y="3886200"/>
            <a:ext cx="11368735" cy="960120"/>
          </a:xfrm>
          <a:prstGeom prst="rect">
            <a:avLst/>
          </a:prstGeom>
          <a:solidFill>
            <a:srgbClr val="F5F8FC"/>
          </a:solidFill>
          <a:ln w="9525">
            <a:solidFill>
              <a:srgbClr val="D0D7E2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11480" y="3886200"/>
            <a:ext cx="548640" cy="960120"/>
          </a:xfrm>
          <a:prstGeom prst="rect">
            <a:avLst/>
          </a:prstGeom>
          <a:solidFill>
            <a:srgbClr val="00A651"/>
          </a:solidFill>
          <a:ln w="9525">
            <a:solidFill>
              <a:srgbClr val="00A651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11480" y="3886200"/>
            <a:ext cx="5486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3</a:t>
            </a:r>
            <a:endParaRPr lang="en-US" sz="2000" dirty="0"/>
          </a:p>
        </p:txBody>
      </p:sp>
      <p:sp>
        <p:nvSpPr>
          <p:cNvPr id="15" name="Text 13"/>
          <p:cNvSpPr txBox="1"/>
          <p:nvPr/>
        </p:nvSpPr>
        <p:spPr>
          <a:xfrm>
            <a:off x="1097280" y="3931920"/>
            <a:ext cx="1054577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000000"/>
                </a:solidFill>
              </a:rPr>
              <a:t>ACAF fusion module</a:t>
            </a:r>
            <a:endParaRPr lang="en-US" sz="15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50" dirty="0">
                <a:solidFill>
                  <a:schemeClr val="tx2"/>
                </a:solidFill>
              </a:rPr>
              <a:t>Confidence-gated cross-modal attention: F = Σ softmax(c / τ)ᵢ · CrossAttnᵢ, at 4 feature scales (8.1M parameters).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411480" y="4983480"/>
            <a:ext cx="11368735" cy="960120"/>
          </a:xfrm>
          <a:prstGeom prst="rect">
            <a:avLst/>
          </a:prstGeom>
          <a:solidFill>
            <a:srgbClr val="F5F8FC"/>
          </a:solidFill>
          <a:ln w="9525">
            <a:solidFill>
              <a:srgbClr val="D0D7E2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11480" y="4983480"/>
            <a:ext cx="548640" cy="960120"/>
          </a:xfrm>
          <a:prstGeom prst="rect">
            <a:avLst/>
          </a:prstGeom>
          <a:solidFill>
            <a:srgbClr val="7B3FE4"/>
          </a:solidFill>
          <a:ln w="9525">
            <a:solidFill>
              <a:srgbClr val="7B3FE4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411480" y="4983480"/>
            <a:ext cx="5486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4</a:t>
            </a:r>
            <a:endParaRPr lang="en-US" sz="2000" dirty="0"/>
          </a:p>
        </p:txBody>
      </p:sp>
      <p:sp>
        <p:nvSpPr>
          <p:cNvPr id="19" name="Text 17"/>
          <p:cNvSpPr txBox="1"/>
          <p:nvPr/>
        </p:nvSpPr>
        <p:spPr>
          <a:xfrm>
            <a:off x="1097280" y="5029200"/>
            <a:ext cx="1054577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000000"/>
                </a:solidFill>
              </a:rPr>
              <a:t>Task heads</a:t>
            </a:r>
            <a:endParaRPr lang="en-US" sz="15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50" dirty="0">
                <a:solidFill>
                  <a:schemeClr val="tx2"/>
                </a:solidFill>
              </a:rPr>
              <a:t>FCOS-style anchor-free detection (4.7M) and DeepLabV3+-style segmentation (0.6M). Total: 67.35M parameters.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23015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F7F7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idx="102" type="title" hasCustomPrompt="1"/>
          </p:nvPr>
        </p:nvSpPr>
        <p:spPr>
          <a:xfrm>
            <a:off x="411480" y="365760"/>
            <a:ext cx="1136873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</a:rPr>
              <a:t>Proposed Architecture</a:t>
            </a:r>
            <a:endParaRPr lang="en-US" sz="3200" dirty="0"/>
          </a:p>
        </p:txBody>
      </p:sp>
      <p:pic>
        <p:nvPicPr>
          <p:cNvPr id="4" name="Image 0" descr="C:\Users\parbi\AppData\Local\Temp\claude\d--aftmsf\e87c42c5-5d7b-458d-8dbf-7a7efedffd6c\scratchpad\report\architectur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59253" y="1234440"/>
            <a:ext cx="8473190" cy="512064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23015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F7F7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idx="102" type="title" hasCustomPrompt="1"/>
          </p:nvPr>
        </p:nvSpPr>
        <p:spPr>
          <a:xfrm>
            <a:off x="411480" y="365760"/>
            <a:ext cx="1136873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</a:rPr>
              <a:t>Modality Encoders</a:t>
            </a:r>
            <a:endParaRPr lang="en-US" sz="32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1280160"/>
          <a:ext cx="11368735" cy="914400"/>
        </p:xfrm>
        <a:graphic>
          <a:graphicData uri="http://schemas.openxmlformats.org/drawingml/2006/table">
            <a:tbl>
              <a:tblPr/>
              <a:tblGrid>
                <a:gridCol w="2103120"/>
                <a:gridCol w="3108960"/>
                <a:gridCol w="2194560"/>
                <a:gridCol w="2377440"/>
                <a:gridCol w="1581912"/>
              </a:tblGrid>
              <a:tr h="43891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Encoder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Backbone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Input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Output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Parameters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RGB encoder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ResNet-50 + FPN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3-channel RGB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256-ch FPN × 4 scales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26,854,464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Thermal encoder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ResNet-50 + FPN (1-channel stem)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1-channel thermal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256-ch FPN × 4 scales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26,848,192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Depth encoder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Depthwise-separable CNN + FPN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1-channel LiDAR depth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256-ch FPN × 4 scales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3,331,168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</a:tr>
            </a:tbl>
          </a:graphicData>
        </a:graphic>
      </p:graphicFrame>
      <p:sp>
        <p:nvSpPr>
          <p:cNvPr id="5" name="Text 1"/>
          <p:cNvSpPr txBox="1"/>
          <p:nvPr/>
        </p:nvSpPr>
        <p:spPr>
          <a:xfrm>
            <a:off x="411480" y="3200400"/>
            <a:ext cx="7315200" cy="365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00A651"/>
                </a:solidFill>
              </a:rPr>
              <a:t>Depth Encoder Layers</a:t>
            </a:r>
            <a:endParaRPr lang="en-US" sz="1800" dirty="0"/>
          </a:p>
        </p:txBody>
      </p:sp>
      <p:graphicFrame>
        <p:nvGraphicFramePr>
          <p:cNvPr id="25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3611880"/>
          <a:ext cx="8778240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2926080"/>
                <a:gridCol w="1554480"/>
                <a:gridCol w="1188720"/>
                <a:gridCol w="1463040"/>
              </a:tblGrid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Layer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A65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Type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A65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Output channels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A65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Stride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A65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Parameters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A651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Sparse fill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Dilated convolutions (rates 2, 4)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2,464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Stem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Conv 7×7 + max-pool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1,632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Stages 1–2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Depthwise-separable × 2 each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64 / 128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 / 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45,280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Stages 3–4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Depthwise-separable × 2 each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256 / 512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 / 32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672,640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FPN neck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Feature pyramid network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4–32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2,609,152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</a:tr>
            </a:tbl>
          </a:graphicData>
        </a:graphic>
      </p:graphicFrame>
      <p:sp>
        <p:nvSpPr>
          <p:cNvPr id="7" name="card Why so small?"/>
          <p:cNvSpPr/>
          <p:nvPr/>
        </p:nvSpPr>
        <p:spPr>
          <a:xfrm>
            <a:off x="9418320" y="3611880"/>
            <a:ext cx="2359152" cy="2194560"/>
          </a:xfrm>
          <a:prstGeom prst="rect">
            <a:avLst/>
          </a:prstGeom>
          <a:solidFill>
            <a:srgbClr val="F5F8FC"/>
          </a:solidFill>
          <a:ln w="15875">
            <a:solidFill>
              <a:srgbClr val="00A651"/>
            </a:solidFill>
            <a:prstDash val="solid"/>
          </a:ln>
        </p:spPr>
      </p:sp>
      <p:sp>
        <p:nvSpPr>
          <p:cNvPr id="8" name="Text 3"/>
          <p:cNvSpPr txBox="1"/>
          <p:nvPr/>
        </p:nvSpPr>
        <p:spPr>
          <a:xfrm>
            <a:off x="9555480" y="3703320"/>
            <a:ext cx="20848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0A651"/>
                </a:solidFill>
              </a:rPr>
              <a:t>Why so small?</a:t>
            </a:r>
            <a:endParaRPr lang="en-US" sz="1600" dirty="0"/>
          </a:p>
        </p:txBody>
      </p:sp>
      <p:sp>
        <p:nvSpPr>
          <p:cNvPr id="9" name="Text 4"/>
          <p:cNvSpPr txBox="1"/>
          <p:nvPr/>
        </p:nvSpPr>
        <p:spPr>
          <a:xfrm>
            <a:off x="9555480" y="4114800"/>
            <a:ext cx="2084832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chemeClr val="tx2"/>
                </a:solidFill>
              </a:rPr>
              <a:t>The depth encoder has 8× fewer parameters than ResNet-50, which keeps the RGB + LiDAR model at 43.8M.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23015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F7F7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idx="102" type="title" hasCustomPrompt="1"/>
          </p:nvPr>
        </p:nvSpPr>
        <p:spPr>
          <a:xfrm>
            <a:off x="411480" y="365760"/>
            <a:ext cx="1136873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</a:rPr>
              <a:t>Implementation Flow</a:t>
            </a:r>
            <a:endParaRPr lang="en-US" sz="3200" dirty="0"/>
          </a:p>
        </p:txBody>
      </p:sp>
      <p:sp>
        <p:nvSpPr>
          <p:cNvPr id="4" name="Shape 1"/>
          <p:cNvSpPr/>
          <p:nvPr/>
        </p:nvSpPr>
        <p:spPr>
          <a:xfrm>
            <a:off x="832104" y="1463040"/>
            <a:ext cx="640080" cy="640080"/>
          </a:xfrm>
          <a:prstGeom prst="ellipse">
            <a:avLst/>
          </a:prstGeom>
          <a:solidFill>
            <a:srgbClr val="595959"/>
          </a:solidFill>
          <a:ln w="12700">
            <a:solidFill>
              <a:srgbClr val="595959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832104" y="14630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1</a:t>
            </a:r>
            <a:endParaRPr lang="en-US" sz="2000" dirty="0"/>
          </a:p>
        </p:txBody>
      </p:sp>
      <p:sp>
        <p:nvSpPr>
          <p:cNvPr id="6" name="Shape 3"/>
          <p:cNvSpPr/>
          <p:nvPr/>
        </p:nvSpPr>
        <p:spPr>
          <a:xfrm>
            <a:off x="411480" y="2286000"/>
            <a:ext cx="1481328" cy="1828800"/>
          </a:xfrm>
          <a:prstGeom prst="rect">
            <a:avLst/>
          </a:prstGeom>
          <a:solidFill>
            <a:srgbClr val="F5F8FC"/>
          </a:solidFill>
          <a:ln w="15875">
            <a:solidFill>
              <a:srgbClr val="595959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484632" y="2377440"/>
            <a:ext cx="1335024" cy="16459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ctr" indent="0" marL="0">
              <a:spcAft>
                <a:spcPts val="600"/>
              </a:spcAft>
              <a:buNone/>
            </a:pPr>
            <a:r>
              <a:rPr lang="en-US" sz="1500" b="1" dirty="0">
                <a:solidFill>
                  <a:srgbClr val="595959"/>
                </a:solidFill>
              </a:rPr>
              <a:t>Sensor input</a:t>
            </a:r>
            <a:endParaRPr lang="en-US" sz="1400" dirty="0"/>
          </a:p>
          <a:p>
            <a:pPr algn="ctr"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chemeClr val="tx2"/>
                </a:solidFill>
              </a:rPr>
              <a:t>Aligned RGB, thermal or depth images (256 × 320)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 rot="5400000">
            <a:off x="1911096" y="3108960"/>
            <a:ext cx="118872" cy="182880"/>
          </a:xfrm>
          <a:prstGeom prst="rtTriangle">
            <a:avLst/>
          </a:prstGeom>
          <a:solidFill>
            <a:srgbClr val="9AA5B4"/>
          </a:solidFill>
          <a:ln w="12700">
            <a:solidFill>
              <a:srgbClr val="9AA5B4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2468880" y="1463040"/>
            <a:ext cx="640080" cy="640080"/>
          </a:xfrm>
          <a:prstGeom prst="ellipse">
            <a:avLst/>
          </a:prstGeom>
          <a:solidFill>
            <a:srgbClr val="0070C0"/>
          </a:solidFill>
          <a:ln w="12700">
            <a:solidFill>
              <a:srgbClr val="0070C0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2468880" y="14630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2</a:t>
            </a:r>
            <a:endParaRPr lang="en-US" sz="2000" dirty="0"/>
          </a:p>
        </p:txBody>
      </p:sp>
      <p:sp>
        <p:nvSpPr>
          <p:cNvPr id="11" name="Shape 8"/>
          <p:cNvSpPr/>
          <p:nvPr/>
        </p:nvSpPr>
        <p:spPr>
          <a:xfrm>
            <a:off x="2048256" y="2286000"/>
            <a:ext cx="1481328" cy="1828800"/>
          </a:xfrm>
          <a:prstGeom prst="rect">
            <a:avLst/>
          </a:prstGeom>
          <a:solidFill>
            <a:srgbClr val="F5F8FC"/>
          </a:solidFill>
          <a:ln w="15875">
            <a:solidFill>
              <a:srgbClr val="0070C0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2121408" y="2377440"/>
            <a:ext cx="1335024" cy="16459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ctr" indent="0" marL="0">
              <a:spcAft>
                <a:spcPts val="600"/>
              </a:spcAft>
              <a:buNone/>
            </a:pPr>
            <a:r>
              <a:rPr lang="en-US" sz="1500" b="1" dirty="0">
                <a:solidFill>
                  <a:srgbClr val="0070C0"/>
                </a:solidFill>
              </a:rPr>
              <a:t>Encode</a:t>
            </a:r>
            <a:endParaRPr lang="en-US" sz="1400" dirty="0"/>
          </a:p>
          <a:p>
            <a:pPr algn="ctr"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chemeClr val="tx2"/>
                </a:solidFill>
              </a:rPr>
              <a:t>Each sensor → 4-scale FPN features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 rot="5400000">
            <a:off x="3547872" y="3108960"/>
            <a:ext cx="118872" cy="182880"/>
          </a:xfrm>
          <a:prstGeom prst="rtTriangle">
            <a:avLst/>
          </a:prstGeom>
          <a:solidFill>
            <a:srgbClr val="9AA5B4"/>
          </a:solidFill>
          <a:ln w="12700">
            <a:solidFill>
              <a:srgbClr val="9AA5B4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4105656" y="1463040"/>
            <a:ext cx="640080" cy="640080"/>
          </a:xfrm>
          <a:prstGeom prst="ellipse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4105656" y="14630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3</a:t>
            </a:r>
            <a:endParaRPr lang="en-US" sz="2000" dirty="0"/>
          </a:p>
        </p:txBody>
      </p:sp>
      <p:sp>
        <p:nvSpPr>
          <p:cNvPr id="16" name="Shape 13"/>
          <p:cNvSpPr/>
          <p:nvPr/>
        </p:nvSpPr>
        <p:spPr>
          <a:xfrm>
            <a:off x="3685032" y="2286000"/>
            <a:ext cx="1481328" cy="1828800"/>
          </a:xfrm>
          <a:prstGeom prst="rect">
            <a:avLst/>
          </a:prstGeom>
          <a:solidFill>
            <a:srgbClr val="F5F8FC"/>
          </a:solidFill>
          <a:ln w="15875">
            <a:solidFill>
              <a:srgbClr val="F39C12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3758184" y="2377440"/>
            <a:ext cx="1335024" cy="16459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ctr" indent="0" marL="0">
              <a:spcAft>
                <a:spcPts val="600"/>
              </a:spcAft>
              <a:buNone/>
            </a:pPr>
            <a:r>
              <a:rPr lang="en-US" sz="1500" b="1" dirty="0">
                <a:solidFill>
                  <a:srgbClr val="F39C12"/>
                </a:solidFill>
              </a:rPr>
              <a:t>Fault detector</a:t>
            </a:r>
            <a:endParaRPr lang="en-US" sz="1400" dirty="0"/>
          </a:p>
          <a:p>
            <a:pPr algn="ctr"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chemeClr val="tx2"/>
                </a:solidFill>
              </a:rPr>
              <a:t>Confidence cᵢ per sensor</a:t>
            </a:r>
            <a:endParaRPr lang="en-US" sz="1400" dirty="0"/>
          </a:p>
        </p:txBody>
      </p:sp>
      <p:sp>
        <p:nvSpPr>
          <p:cNvPr id="18" name="Shape 15"/>
          <p:cNvSpPr/>
          <p:nvPr/>
        </p:nvSpPr>
        <p:spPr>
          <a:xfrm rot="5400000">
            <a:off x="5184648" y="3108960"/>
            <a:ext cx="118872" cy="182880"/>
          </a:xfrm>
          <a:prstGeom prst="rtTriangle">
            <a:avLst/>
          </a:prstGeom>
          <a:solidFill>
            <a:srgbClr val="9AA5B4"/>
          </a:solidFill>
          <a:ln w="12700">
            <a:solidFill>
              <a:srgbClr val="9AA5B4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5742432" y="1463040"/>
            <a:ext cx="640080" cy="640080"/>
          </a:xfrm>
          <a:prstGeom prst="ellipse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5742432" y="14630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4</a:t>
            </a:r>
            <a:endParaRPr lang="en-US" sz="2000" dirty="0"/>
          </a:p>
        </p:txBody>
      </p:sp>
      <p:sp>
        <p:nvSpPr>
          <p:cNvPr id="21" name="Shape 18"/>
          <p:cNvSpPr/>
          <p:nvPr/>
        </p:nvSpPr>
        <p:spPr>
          <a:xfrm>
            <a:off x="5321808" y="2286000"/>
            <a:ext cx="1481328" cy="1828800"/>
          </a:xfrm>
          <a:prstGeom prst="rect">
            <a:avLst/>
          </a:prstGeom>
          <a:solidFill>
            <a:srgbClr val="F5F8FC"/>
          </a:solidFill>
          <a:ln w="15875">
            <a:solidFill>
              <a:srgbClr val="F39C12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5394960" y="2377440"/>
            <a:ext cx="1335024" cy="16459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ctr" indent="0" marL="0">
              <a:spcAft>
                <a:spcPts val="600"/>
              </a:spcAft>
              <a:buNone/>
            </a:pPr>
            <a:r>
              <a:rPr lang="en-US" sz="1500" b="1" dirty="0">
                <a:solidFill>
                  <a:srgbClr val="F39C12"/>
                </a:solidFill>
              </a:rPr>
              <a:t>Fusion weights</a:t>
            </a:r>
            <a:endParaRPr lang="en-US" sz="1400" dirty="0"/>
          </a:p>
          <a:p>
            <a:pPr algn="ctr"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chemeClr val="tx2"/>
                </a:solidFill>
              </a:rPr>
              <a:t>w = softmax(c / τ), learned τ</a:t>
            </a:r>
            <a:endParaRPr lang="en-US" sz="1400" dirty="0"/>
          </a:p>
        </p:txBody>
      </p:sp>
      <p:sp>
        <p:nvSpPr>
          <p:cNvPr id="23" name="Shape 20"/>
          <p:cNvSpPr/>
          <p:nvPr/>
        </p:nvSpPr>
        <p:spPr>
          <a:xfrm rot="5400000">
            <a:off x="6821424" y="3108960"/>
            <a:ext cx="118872" cy="182880"/>
          </a:xfrm>
          <a:prstGeom prst="rtTriangle">
            <a:avLst/>
          </a:prstGeom>
          <a:solidFill>
            <a:srgbClr val="9AA5B4"/>
          </a:solidFill>
          <a:ln w="12700">
            <a:solidFill>
              <a:srgbClr val="9AA5B4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7379208" y="1463040"/>
            <a:ext cx="640080" cy="640080"/>
          </a:xfrm>
          <a:prstGeom prst="ellipse">
            <a:avLst/>
          </a:prstGeom>
          <a:solidFill>
            <a:srgbClr val="00A651"/>
          </a:solidFill>
          <a:ln w="12700">
            <a:solidFill>
              <a:srgbClr val="00A651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7379208" y="14630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5</a:t>
            </a:r>
            <a:endParaRPr lang="en-US" sz="2000" dirty="0"/>
          </a:p>
        </p:txBody>
      </p:sp>
      <p:sp>
        <p:nvSpPr>
          <p:cNvPr id="26" name="Shape 23"/>
          <p:cNvSpPr/>
          <p:nvPr/>
        </p:nvSpPr>
        <p:spPr>
          <a:xfrm>
            <a:off x="6958584" y="2286000"/>
            <a:ext cx="1481328" cy="1828800"/>
          </a:xfrm>
          <a:prstGeom prst="rect">
            <a:avLst/>
          </a:prstGeom>
          <a:solidFill>
            <a:srgbClr val="F5F8FC"/>
          </a:solidFill>
          <a:ln w="15875">
            <a:solidFill>
              <a:srgbClr val="00A651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7031736" y="2377440"/>
            <a:ext cx="1335024" cy="16459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ctr" indent="0" marL="0">
              <a:spcAft>
                <a:spcPts val="600"/>
              </a:spcAft>
              <a:buNone/>
            </a:pPr>
            <a:r>
              <a:rPr lang="en-US" sz="1500" b="1" dirty="0">
                <a:solidFill>
                  <a:srgbClr val="00A651"/>
                </a:solidFill>
              </a:rPr>
              <a:t>ACAF fusion</a:t>
            </a:r>
            <a:endParaRPr lang="en-US" sz="1400" dirty="0"/>
          </a:p>
          <a:p>
            <a:pPr algn="ctr"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chemeClr val="tx2"/>
                </a:solidFill>
              </a:rPr>
              <a:t>Cross-modal attention at 4 scales</a:t>
            </a:r>
            <a:endParaRPr lang="en-US" sz="1400" dirty="0"/>
          </a:p>
        </p:txBody>
      </p:sp>
      <p:sp>
        <p:nvSpPr>
          <p:cNvPr id="28" name="Shape 25"/>
          <p:cNvSpPr/>
          <p:nvPr/>
        </p:nvSpPr>
        <p:spPr>
          <a:xfrm rot="5400000">
            <a:off x="8458200" y="3108960"/>
            <a:ext cx="118872" cy="182880"/>
          </a:xfrm>
          <a:prstGeom prst="rtTriangle">
            <a:avLst/>
          </a:prstGeom>
          <a:solidFill>
            <a:srgbClr val="9AA5B4"/>
          </a:solidFill>
          <a:ln w="12700">
            <a:solidFill>
              <a:srgbClr val="9AA5B4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9015984" y="1463040"/>
            <a:ext cx="640080" cy="640080"/>
          </a:xfrm>
          <a:prstGeom prst="ellipse">
            <a:avLst/>
          </a:prstGeom>
          <a:solidFill>
            <a:srgbClr val="7B3FE4"/>
          </a:solidFill>
          <a:ln w="12700">
            <a:solidFill>
              <a:srgbClr val="7B3FE4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9015984" y="14630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6</a:t>
            </a:r>
            <a:endParaRPr lang="en-US" sz="2000" dirty="0"/>
          </a:p>
        </p:txBody>
      </p:sp>
      <p:sp>
        <p:nvSpPr>
          <p:cNvPr id="31" name="Shape 28"/>
          <p:cNvSpPr/>
          <p:nvPr/>
        </p:nvSpPr>
        <p:spPr>
          <a:xfrm>
            <a:off x="8595360" y="2286000"/>
            <a:ext cx="1481328" cy="1828800"/>
          </a:xfrm>
          <a:prstGeom prst="rect">
            <a:avLst/>
          </a:prstGeom>
          <a:solidFill>
            <a:srgbClr val="F5F8FC"/>
          </a:solidFill>
          <a:ln w="15875">
            <a:solidFill>
              <a:srgbClr val="7B3FE4"/>
            </a:solidFill>
            <a:prstDash val="solid"/>
          </a:ln>
        </p:spPr>
      </p:sp>
      <p:sp>
        <p:nvSpPr>
          <p:cNvPr id="32" name="Text 29"/>
          <p:cNvSpPr txBox="1"/>
          <p:nvPr/>
        </p:nvSpPr>
        <p:spPr>
          <a:xfrm>
            <a:off x="8668512" y="2377440"/>
            <a:ext cx="1335024" cy="16459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ctr" indent="0" marL="0">
              <a:spcAft>
                <a:spcPts val="600"/>
              </a:spcAft>
              <a:buNone/>
            </a:pPr>
            <a:r>
              <a:rPr lang="en-US" sz="1500" b="1" dirty="0">
                <a:solidFill>
                  <a:srgbClr val="7B3FE4"/>
                </a:solidFill>
              </a:rPr>
              <a:t>Two heads</a:t>
            </a:r>
            <a:endParaRPr lang="en-US" sz="1400" dirty="0"/>
          </a:p>
          <a:p>
            <a:pPr algn="ctr"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chemeClr val="tx2"/>
                </a:solidFill>
              </a:rPr>
              <a:t>Detection (4 scales) + segmentation</a:t>
            </a:r>
            <a:endParaRPr lang="en-US" sz="1400" dirty="0"/>
          </a:p>
        </p:txBody>
      </p:sp>
      <p:sp>
        <p:nvSpPr>
          <p:cNvPr id="33" name="Shape 30"/>
          <p:cNvSpPr/>
          <p:nvPr/>
        </p:nvSpPr>
        <p:spPr>
          <a:xfrm rot="5400000">
            <a:off x="10094976" y="3108960"/>
            <a:ext cx="118872" cy="182880"/>
          </a:xfrm>
          <a:prstGeom prst="rtTriangle">
            <a:avLst/>
          </a:prstGeom>
          <a:solidFill>
            <a:srgbClr val="9AA5B4"/>
          </a:solidFill>
          <a:ln w="12700">
            <a:solidFill>
              <a:srgbClr val="9AA5B4"/>
            </a:solidFill>
            <a:prstDash val="solid"/>
          </a:ln>
        </p:spPr>
      </p:sp>
      <p:sp>
        <p:nvSpPr>
          <p:cNvPr id="34" name="Shape 31"/>
          <p:cNvSpPr/>
          <p:nvPr/>
        </p:nvSpPr>
        <p:spPr>
          <a:xfrm>
            <a:off x="10652760" y="1463040"/>
            <a:ext cx="640080" cy="640080"/>
          </a:xfrm>
          <a:prstGeom prst="ellipse">
            <a:avLst/>
          </a:prstGeom>
          <a:solidFill>
            <a:srgbClr val="0E9488"/>
          </a:solidFill>
          <a:ln w="12700">
            <a:solidFill>
              <a:srgbClr val="0E9488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10652760" y="14630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7</a:t>
            </a:r>
            <a:endParaRPr lang="en-US" sz="2000" dirty="0"/>
          </a:p>
        </p:txBody>
      </p:sp>
      <p:sp>
        <p:nvSpPr>
          <p:cNvPr id="36" name="Shape 33"/>
          <p:cNvSpPr/>
          <p:nvPr/>
        </p:nvSpPr>
        <p:spPr>
          <a:xfrm>
            <a:off x="10232136" y="2286000"/>
            <a:ext cx="1481328" cy="1828800"/>
          </a:xfrm>
          <a:prstGeom prst="rect">
            <a:avLst/>
          </a:prstGeom>
          <a:solidFill>
            <a:srgbClr val="F5F8FC"/>
          </a:solidFill>
          <a:ln w="15875">
            <a:solidFill>
              <a:srgbClr val="0E9488"/>
            </a:solidFill>
            <a:prstDash val="solid"/>
          </a:ln>
        </p:spPr>
      </p:sp>
      <p:sp>
        <p:nvSpPr>
          <p:cNvPr id="37" name="Text 34"/>
          <p:cNvSpPr txBox="1"/>
          <p:nvPr/>
        </p:nvSpPr>
        <p:spPr>
          <a:xfrm>
            <a:off x="10305288" y="2377440"/>
            <a:ext cx="1335024" cy="16459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ctr" indent="0" marL="0">
              <a:spcAft>
                <a:spcPts val="600"/>
              </a:spcAft>
              <a:buNone/>
            </a:pPr>
            <a:r>
              <a:rPr lang="en-US" sz="1500" b="1" dirty="0">
                <a:solidFill>
                  <a:srgbClr val="0E9488"/>
                </a:solidFill>
              </a:rPr>
              <a:t>Output</a:t>
            </a:r>
            <a:endParaRPr lang="en-US" sz="1400" dirty="0"/>
          </a:p>
          <a:p>
            <a:pPr algn="ctr"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chemeClr val="tx2"/>
                </a:solidFill>
              </a:rPr>
              <a:t>Boxes, mask, c and w to the planner</a:t>
            </a:r>
            <a:endParaRPr lang="en-US" sz="1400" dirty="0"/>
          </a:p>
        </p:txBody>
      </p:sp>
      <p:sp>
        <p:nvSpPr>
          <p:cNvPr id="38" name="card Training"/>
          <p:cNvSpPr/>
          <p:nvPr/>
        </p:nvSpPr>
        <p:spPr>
          <a:xfrm>
            <a:off x="411480" y="4434840"/>
            <a:ext cx="5577840" cy="1508760"/>
          </a:xfrm>
          <a:prstGeom prst="rect">
            <a:avLst/>
          </a:prstGeom>
          <a:solidFill>
            <a:srgbClr val="F5F8FC"/>
          </a:solidFill>
          <a:ln w="15875">
            <a:solidFill>
              <a:srgbClr val="0070C0"/>
            </a:solidFill>
            <a:prstDash val="solid"/>
          </a:ln>
        </p:spPr>
      </p:sp>
      <p:sp>
        <p:nvSpPr>
          <p:cNvPr id="39" name="Text 36"/>
          <p:cNvSpPr txBox="1"/>
          <p:nvPr/>
        </p:nvSpPr>
        <p:spPr>
          <a:xfrm>
            <a:off x="548640" y="4526280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070C0"/>
                </a:solidFill>
              </a:rPr>
              <a:t>Training</a:t>
            </a:r>
            <a:endParaRPr lang="en-US" sz="1600" dirty="0"/>
          </a:p>
        </p:txBody>
      </p:sp>
      <p:sp>
        <p:nvSpPr>
          <p:cNvPr id="40" name="Text 37"/>
          <p:cNvSpPr txBox="1"/>
          <p:nvPr/>
        </p:nvSpPr>
        <p:spPr>
          <a:xfrm>
            <a:off x="548640" y="4937760"/>
            <a:ext cx="5303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tx2"/>
                </a:solidFill>
              </a:rPr>
              <a:t>Synthetic faults (dropout, noise, occlusion, blur) are injected with p = 0.15; a reliability loss teaches the fault detector.</a:t>
            </a:r>
            <a:endParaRPr lang="en-US" sz="1400" dirty="0"/>
          </a:p>
        </p:txBody>
      </p:sp>
      <p:sp>
        <p:nvSpPr>
          <p:cNvPr id="41" name="card Inference"/>
          <p:cNvSpPr/>
          <p:nvPr/>
        </p:nvSpPr>
        <p:spPr>
          <a:xfrm>
            <a:off x="6199632" y="4434840"/>
            <a:ext cx="5577840" cy="1508760"/>
          </a:xfrm>
          <a:prstGeom prst="rect">
            <a:avLst/>
          </a:prstGeom>
          <a:solidFill>
            <a:srgbClr val="F5F8FC"/>
          </a:solidFill>
          <a:ln w="15875">
            <a:solidFill>
              <a:srgbClr val="00A651"/>
            </a:solidFill>
            <a:prstDash val="solid"/>
          </a:ln>
        </p:spPr>
      </p:sp>
      <p:sp>
        <p:nvSpPr>
          <p:cNvPr id="42" name="Text 39"/>
          <p:cNvSpPr txBox="1"/>
          <p:nvPr/>
        </p:nvSpPr>
        <p:spPr>
          <a:xfrm>
            <a:off x="6336792" y="4526280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0A651"/>
                </a:solidFill>
              </a:rPr>
              <a:t>Inference</a:t>
            </a:r>
            <a:endParaRPr lang="en-US" sz="1600" dirty="0"/>
          </a:p>
        </p:txBody>
      </p:sp>
      <p:sp>
        <p:nvSpPr>
          <p:cNvPr id="43" name="Text 40"/>
          <p:cNvSpPr txBox="1"/>
          <p:nvPr/>
        </p:nvSpPr>
        <p:spPr>
          <a:xfrm>
            <a:off x="6336792" y="4937760"/>
            <a:ext cx="5303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tx2"/>
                </a:solidFill>
              </a:rPr>
              <a:t>No fault labels needed. Confidence below 0.15 flags a sensor as faulty; weights change smoothly, not by hard switching.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23015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F7F7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idx="102" type="title" hasCustomPrompt="1"/>
          </p:nvPr>
        </p:nvSpPr>
        <p:spPr>
          <a:xfrm>
            <a:off x="411480" y="365760"/>
            <a:ext cx="1136873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</a:rPr>
              <a:t>System Development Pipeline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11480" y="1325880"/>
            <a:ext cx="2606040" cy="457200"/>
          </a:xfrm>
          <a:prstGeom prst="rect">
            <a:avLst/>
          </a:prstGeom>
          <a:solidFill>
            <a:srgbClr val="0070C0"/>
          </a:solidFill>
          <a:ln w="12700">
            <a:solidFill>
              <a:srgbClr val="0070C0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02920" y="1325880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Phase 0: Environment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11480" y="1783080"/>
            <a:ext cx="2606040" cy="868680"/>
          </a:xfrm>
          <a:prstGeom prst="rect">
            <a:avLst/>
          </a:prstGeom>
          <a:solidFill>
            <a:srgbClr val="F5F8FC"/>
          </a:solidFill>
          <a:ln w="12700">
            <a:solidFill>
              <a:srgbClr val="0070C0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02920" y="1828800"/>
            <a:ext cx="2423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Python 3.10 · PyTorch 2.6 · CUDA 12.4 · conda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044952" y="2217420"/>
            <a:ext cx="246888" cy="0"/>
          </a:xfrm>
          <a:prstGeom prst="line">
            <a:avLst/>
          </a:prstGeom>
          <a:noFill/>
          <a:ln w="15875">
            <a:solidFill>
              <a:srgbClr val="6B7A90"/>
            </a:solidFill>
            <a:prstDash val="solid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3319272" y="1325880"/>
            <a:ext cx="2606040" cy="457200"/>
          </a:xfrm>
          <a:prstGeom prst="rect">
            <a:avLst/>
          </a:prstGeom>
          <a:solidFill>
            <a:srgbClr val="0E9488"/>
          </a:solidFill>
          <a:ln w="12700">
            <a:solidFill>
              <a:srgbClr val="0E9488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410712" y="1325880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Phase 1: Datasets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3319272" y="1783080"/>
            <a:ext cx="2606040" cy="868680"/>
          </a:xfrm>
          <a:prstGeom prst="rect">
            <a:avLst/>
          </a:prstGeom>
          <a:solidFill>
            <a:srgbClr val="F5F8FC"/>
          </a:solidFill>
          <a:ln w="12700">
            <a:solidFill>
              <a:srgbClr val="0E9488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410712" y="1828800"/>
            <a:ext cx="2423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KAIST · KITTI · FLIR — download, EDA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952744" y="2217420"/>
            <a:ext cx="246888" cy="0"/>
          </a:xfrm>
          <a:prstGeom prst="line">
            <a:avLst/>
          </a:prstGeom>
          <a:noFill/>
          <a:ln w="15875">
            <a:solidFill>
              <a:srgbClr val="6B7A90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6227064" y="1325880"/>
            <a:ext cx="2606040" cy="457200"/>
          </a:xfrm>
          <a:prstGeom prst="rect">
            <a:avLst/>
          </a:prstGeom>
          <a:solidFill>
            <a:srgbClr val="7B3FE4"/>
          </a:solidFill>
          <a:ln w="12700">
            <a:solidFill>
              <a:srgbClr val="7B3FE4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318504" y="1325880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Phase 2: Data pipeline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6227064" y="1783080"/>
            <a:ext cx="2606040" cy="868680"/>
          </a:xfrm>
          <a:prstGeom prst="rect">
            <a:avLst/>
          </a:prstGeom>
          <a:solidFill>
            <a:srgbClr val="F5F8FC"/>
          </a:solidFill>
          <a:ln w="12700">
            <a:solidFill>
              <a:srgbClr val="7B3FE4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318504" y="1828800"/>
            <a:ext cx="2423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Loaders · augmentation · fault injection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8860536" y="2217420"/>
            <a:ext cx="246888" cy="0"/>
          </a:xfrm>
          <a:prstGeom prst="line">
            <a:avLst/>
          </a:prstGeom>
          <a:noFill/>
          <a:ln w="15875">
            <a:solidFill>
              <a:srgbClr val="6B7A90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9134856" y="1325880"/>
            <a:ext cx="2606040" cy="457200"/>
          </a:xfrm>
          <a:prstGeom prst="rect">
            <a:avLst/>
          </a:prstGeom>
          <a:solidFill>
            <a:srgbClr val="0070C0"/>
          </a:solidFill>
          <a:ln w="12700">
            <a:solidFill>
              <a:srgbClr val="0070C0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9226296" y="1325880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Phase 3: Encoders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9134856" y="1783080"/>
            <a:ext cx="2606040" cy="868680"/>
          </a:xfrm>
          <a:prstGeom prst="rect">
            <a:avLst/>
          </a:prstGeom>
          <a:solidFill>
            <a:srgbClr val="F5F8FC"/>
          </a:solidFill>
          <a:ln w="12700">
            <a:solidFill>
              <a:srgbClr val="0070C0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9226296" y="1828800"/>
            <a:ext cx="2423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ResNet-50 · depthwise-separable depth CNN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411480" y="3017520"/>
            <a:ext cx="2606040" cy="457200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502920" y="3017520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Phase 4: Fault detector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411480" y="3474720"/>
            <a:ext cx="2606040" cy="868680"/>
          </a:xfrm>
          <a:prstGeom prst="rect">
            <a:avLst/>
          </a:prstGeom>
          <a:solidFill>
            <a:srgbClr val="F5F8FC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502920" y="3520440"/>
            <a:ext cx="2423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Autoencoder · variance · entropy → cᵢ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3044952" y="3909060"/>
            <a:ext cx="246888" cy="0"/>
          </a:xfrm>
          <a:prstGeom prst="line">
            <a:avLst/>
          </a:prstGeom>
          <a:noFill/>
          <a:ln w="15875">
            <a:solidFill>
              <a:srgbClr val="6B7A90"/>
            </a:solidFill>
            <a:prstDash val="solid"/>
            <a:tailEnd type="triangle"/>
          </a:ln>
        </p:spPr>
      </p:sp>
      <p:sp>
        <p:nvSpPr>
          <p:cNvPr id="27" name="Shape 25"/>
          <p:cNvSpPr/>
          <p:nvPr/>
        </p:nvSpPr>
        <p:spPr>
          <a:xfrm>
            <a:off x="3319272" y="3017520"/>
            <a:ext cx="2606040" cy="457200"/>
          </a:xfrm>
          <a:prstGeom prst="rect">
            <a:avLst/>
          </a:prstGeom>
          <a:solidFill>
            <a:srgbClr val="00A651"/>
          </a:solidFill>
          <a:ln w="12700">
            <a:solidFill>
              <a:srgbClr val="00A651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3410712" y="3017520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Phase 5: ACAF module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3319272" y="3474720"/>
            <a:ext cx="2606040" cy="868680"/>
          </a:xfrm>
          <a:prstGeom prst="rect">
            <a:avLst/>
          </a:prstGeom>
          <a:solidFill>
            <a:srgbClr val="F5F8FC"/>
          </a:solidFill>
          <a:ln w="12700">
            <a:solidFill>
              <a:srgbClr val="00A651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3410712" y="3520440"/>
            <a:ext cx="2423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Confidence-gated cross-attention fusion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5952744" y="3909060"/>
            <a:ext cx="246888" cy="0"/>
          </a:xfrm>
          <a:prstGeom prst="line">
            <a:avLst/>
          </a:prstGeom>
          <a:noFill/>
          <a:ln w="15875">
            <a:solidFill>
              <a:srgbClr val="6B7A90"/>
            </a:solidFill>
            <a:prstDash val="solid"/>
            <a:tailEnd type="triangle"/>
          </a:ln>
        </p:spPr>
      </p:sp>
      <p:sp>
        <p:nvSpPr>
          <p:cNvPr id="32" name="Shape 30"/>
          <p:cNvSpPr/>
          <p:nvPr/>
        </p:nvSpPr>
        <p:spPr>
          <a:xfrm>
            <a:off x="6227064" y="3017520"/>
            <a:ext cx="2606040" cy="457200"/>
          </a:xfrm>
          <a:prstGeom prst="rect">
            <a:avLst/>
          </a:prstGeom>
          <a:solidFill>
            <a:srgbClr val="C00000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6318504" y="3017520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Phase 6: Task heads</a:t>
            </a:r>
            <a:endParaRPr lang="en-US" sz="1400" dirty="0"/>
          </a:p>
        </p:txBody>
      </p:sp>
      <p:sp>
        <p:nvSpPr>
          <p:cNvPr id="34" name="Shape 32"/>
          <p:cNvSpPr/>
          <p:nvPr/>
        </p:nvSpPr>
        <p:spPr>
          <a:xfrm>
            <a:off x="6227064" y="3474720"/>
            <a:ext cx="2606040" cy="868680"/>
          </a:xfrm>
          <a:prstGeom prst="rect">
            <a:avLst/>
          </a:prstGeom>
          <a:solidFill>
            <a:srgbClr val="F5F8FC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6318504" y="3520440"/>
            <a:ext cx="2423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FCOS detection · DeepLabV3+ segmentation</a:t>
            </a:r>
            <a:endParaRPr lang="en-US" sz="1300" dirty="0"/>
          </a:p>
        </p:txBody>
      </p:sp>
      <p:sp>
        <p:nvSpPr>
          <p:cNvPr id="36" name="Shape 34"/>
          <p:cNvSpPr/>
          <p:nvPr/>
        </p:nvSpPr>
        <p:spPr>
          <a:xfrm>
            <a:off x="8860536" y="3909060"/>
            <a:ext cx="246888" cy="0"/>
          </a:xfrm>
          <a:prstGeom prst="line">
            <a:avLst/>
          </a:prstGeom>
          <a:noFill/>
          <a:ln w="15875">
            <a:solidFill>
              <a:srgbClr val="6B7A90"/>
            </a:solidFill>
            <a:prstDash val="solid"/>
            <a:tailEnd type="triangle"/>
          </a:ln>
        </p:spPr>
      </p:sp>
      <p:sp>
        <p:nvSpPr>
          <p:cNvPr id="37" name="Shape 35"/>
          <p:cNvSpPr/>
          <p:nvPr/>
        </p:nvSpPr>
        <p:spPr>
          <a:xfrm>
            <a:off x="9134856" y="3017520"/>
            <a:ext cx="2606040" cy="457200"/>
          </a:xfrm>
          <a:prstGeom prst="rect">
            <a:avLst/>
          </a:prstGeom>
          <a:solidFill>
            <a:srgbClr val="7B3FE4"/>
          </a:solidFill>
          <a:ln w="12700">
            <a:solidFill>
              <a:srgbClr val="7B3FE4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9226296" y="3017520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Phase 7: Training</a:t>
            </a:r>
            <a:endParaRPr lang="en-US" sz="1400" dirty="0"/>
          </a:p>
        </p:txBody>
      </p:sp>
      <p:sp>
        <p:nvSpPr>
          <p:cNvPr id="39" name="Shape 37"/>
          <p:cNvSpPr/>
          <p:nvPr/>
        </p:nvSpPr>
        <p:spPr>
          <a:xfrm>
            <a:off x="9134856" y="3474720"/>
            <a:ext cx="2606040" cy="868680"/>
          </a:xfrm>
          <a:prstGeom prst="rect">
            <a:avLst/>
          </a:prstGeom>
          <a:solidFill>
            <a:srgbClr val="F5F8FC"/>
          </a:solidFill>
          <a:ln w="12700">
            <a:solidFill>
              <a:srgbClr val="7B3FE4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9226296" y="3520440"/>
            <a:ext cx="2423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Three stages · AMP · gradient clipping</a:t>
            </a:r>
            <a:endParaRPr lang="en-US" sz="1300" dirty="0"/>
          </a:p>
        </p:txBody>
      </p:sp>
      <p:sp>
        <p:nvSpPr>
          <p:cNvPr id="41" name="Shape 39"/>
          <p:cNvSpPr/>
          <p:nvPr/>
        </p:nvSpPr>
        <p:spPr>
          <a:xfrm>
            <a:off x="411480" y="4709160"/>
            <a:ext cx="2606040" cy="457200"/>
          </a:xfrm>
          <a:prstGeom prst="rect">
            <a:avLst/>
          </a:prstGeom>
          <a:solidFill>
            <a:srgbClr val="C00000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502920" y="4709160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Phase 8: Fault injection</a:t>
            </a:r>
            <a:endParaRPr lang="en-US" sz="1400" dirty="0"/>
          </a:p>
        </p:txBody>
      </p:sp>
      <p:sp>
        <p:nvSpPr>
          <p:cNvPr id="43" name="Shape 41"/>
          <p:cNvSpPr/>
          <p:nvPr/>
        </p:nvSpPr>
        <p:spPr>
          <a:xfrm>
            <a:off x="411480" y="5166360"/>
            <a:ext cx="2606040" cy="868680"/>
          </a:xfrm>
          <a:prstGeom prst="rect">
            <a:avLst/>
          </a:prstGeom>
          <a:solidFill>
            <a:srgbClr val="F5F8FC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44" name="Text 42"/>
          <p:cNvSpPr txBox="1"/>
          <p:nvPr/>
        </p:nvSpPr>
        <p:spPr>
          <a:xfrm>
            <a:off x="502920" y="5212080"/>
            <a:ext cx="2423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Dropout · blur · occlusion · Gaussian noise</a:t>
            </a:r>
            <a:endParaRPr lang="en-US" sz="1300" dirty="0"/>
          </a:p>
        </p:txBody>
      </p:sp>
      <p:sp>
        <p:nvSpPr>
          <p:cNvPr id="45" name="Shape 43"/>
          <p:cNvSpPr/>
          <p:nvPr/>
        </p:nvSpPr>
        <p:spPr>
          <a:xfrm>
            <a:off x="3044952" y="5600700"/>
            <a:ext cx="246888" cy="0"/>
          </a:xfrm>
          <a:prstGeom prst="line">
            <a:avLst/>
          </a:prstGeom>
          <a:noFill/>
          <a:ln w="15875">
            <a:solidFill>
              <a:srgbClr val="6B7A90"/>
            </a:solidFill>
            <a:prstDash val="solid"/>
            <a:tailEnd type="triangle"/>
          </a:ln>
        </p:spPr>
      </p:sp>
      <p:sp>
        <p:nvSpPr>
          <p:cNvPr id="46" name="Shape 44"/>
          <p:cNvSpPr/>
          <p:nvPr/>
        </p:nvSpPr>
        <p:spPr>
          <a:xfrm>
            <a:off x="3319272" y="4709160"/>
            <a:ext cx="2606040" cy="457200"/>
          </a:xfrm>
          <a:prstGeom prst="rect">
            <a:avLst/>
          </a:prstGeom>
          <a:solidFill>
            <a:srgbClr val="0E9488"/>
          </a:solidFill>
          <a:ln w="12700">
            <a:solidFill>
              <a:srgbClr val="0E9488"/>
            </a:solidFill>
            <a:prstDash val="solid"/>
          </a:ln>
        </p:spPr>
      </p:sp>
      <p:sp>
        <p:nvSpPr>
          <p:cNvPr id="47" name="Text 45"/>
          <p:cNvSpPr txBox="1"/>
          <p:nvPr/>
        </p:nvSpPr>
        <p:spPr>
          <a:xfrm>
            <a:off x="3410712" y="4709160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Phase 9: Evaluation</a:t>
            </a:r>
            <a:endParaRPr lang="en-US" sz="1400" dirty="0"/>
          </a:p>
        </p:txBody>
      </p:sp>
      <p:sp>
        <p:nvSpPr>
          <p:cNvPr id="48" name="Shape 46"/>
          <p:cNvSpPr/>
          <p:nvPr/>
        </p:nvSpPr>
        <p:spPr>
          <a:xfrm>
            <a:off x="3319272" y="5166360"/>
            <a:ext cx="2606040" cy="868680"/>
          </a:xfrm>
          <a:prstGeom prst="rect">
            <a:avLst/>
          </a:prstGeom>
          <a:solidFill>
            <a:srgbClr val="F5F8FC"/>
          </a:solidFill>
          <a:ln w="12700">
            <a:solidFill>
              <a:srgbClr val="0E9488"/>
            </a:solidFill>
            <a:prstDash val="solid"/>
          </a:ln>
        </p:spPr>
      </p:sp>
      <p:sp>
        <p:nvSpPr>
          <p:cNvPr id="49" name="Text 47"/>
          <p:cNvSpPr txBox="1"/>
          <p:nvPr/>
        </p:nvSpPr>
        <p:spPr>
          <a:xfrm>
            <a:off x="3410712" y="5212080"/>
            <a:ext cx="2423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mAP · mIoU · FPS · baselines · ablations</a:t>
            </a:r>
            <a:endParaRPr lang="en-US" sz="1300" dirty="0"/>
          </a:p>
        </p:txBody>
      </p:sp>
      <p:sp>
        <p:nvSpPr>
          <p:cNvPr id="50" name="Shape 48"/>
          <p:cNvSpPr/>
          <p:nvPr/>
        </p:nvSpPr>
        <p:spPr>
          <a:xfrm>
            <a:off x="5952744" y="5600700"/>
            <a:ext cx="246888" cy="0"/>
          </a:xfrm>
          <a:prstGeom prst="line">
            <a:avLst/>
          </a:prstGeom>
          <a:noFill/>
          <a:ln w="15875">
            <a:solidFill>
              <a:srgbClr val="6B7A90"/>
            </a:solidFill>
            <a:prstDash val="solid"/>
            <a:tailEnd type="triangle"/>
          </a:ln>
        </p:spPr>
      </p:sp>
      <p:sp>
        <p:nvSpPr>
          <p:cNvPr id="51" name="Shape 49"/>
          <p:cNvSpPr/>
          <p:nvPr/>
        </p:nvSpPr>
        <p:spPr>
          <a:xfrm>
            <a:off x="6227064" y="4709160"/>
            <a:ext cx="2606040" cy="457200"/>
          </a:xfrm>
          <a:prstGeom prst="rect">
            <a:avLst/>
          </a:prstGeom>
          <a:solidFill>
            <a:srgbClr val="0070C0"/>
          </a:solidFill>
          <a:ln w="12700">
            <a:solidFill>
              <a:srgbClr val="0070C0"/>
            </a:solidFill>
            <a:prstDash val="solid"/>
          </a:ln>
        </p:spPr>
      </p:sp>
      <p:sp>
        <p:nvSpPr>
          <p:cNvPr id="52" name="Text 50"/>
          <p:cNvSpPr txBox="1"/>
          <p:nvPr/>
        </p:nvSpPr>
        <p:spPr>
          <a:xfrm>
            <a:off x="6318504" y="4709160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Phase 10: Visualisation</a:t>
            </a:r>
            <a:endParaRPr lang="en-US" sz="1400" dirty="0"/>
          </a:p>
        </p:txBody>
      </p:sp>
      <p:sp>
        <p:nvSpPr>
          <p:cNvPr id="53" name="Shape 51"/>
          <p:cNvSpPr/>
          <p:nvPr/>
        </p:nvSpPr>
        <p:spPr>
          <a:xfrm>
            <a:off x="6227064" y="5166360"/>
            <a:ext cx="2606040" cy="868680"/>
          </a:xfrm>
          <a:prstGeom prst="rect">
            <a:avLst/>
          </a:prstGeom>
          <a:solidFill>
            <a:srgbClr val="F5F8FC"/>
          </a:solidFill>
          <a:ln w="12700">
            <a:solidFill>
              <a:srgbClr val="0070C0"/>
            </a:solidFill>
            <a:prstDash val="solid"/>
          </a:ln>
        </p:spPr>
      </p:sp>
      <p:sp>
        <p:nvSpPr>
          <p:cNvPr id="54" name="Text 52"/>
          <p:cNvSpPr txBox="1"/>
          <p:nvPr/>
        </p:nvSpPr>
        <p:spPr>
          <a:xfrm>
            <a:off x="6318504" y="5212080"/>
            <a:ext cx="2423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Predictions · confidence · robustness plots</a:t>
            </a:r>
            <a:endParaRPr lang="en-US" sz="1300" dirty="0"/>
          </a:p>
        </p:txBody>
      </p:sp>
      <p:sp>
        <p:nvSpPr>
          <p:cNvPr id="55" name="Shape 53"/>
          <p:cNvSpPr/>
          <p:nvPr/>
        </p:nvSpPr>
        <p:spPr>
          <a:xfrm>
            <a:off x="8860536" y="5600700"/>
            <a:ext cx="246888" cy="0"/>
          </a:xfrm>
          <a:prstGeom prst="line">
            <a:avLst/>
          </a:prstGeom>
          <a:noFill/>
          <a:ln w="15875">
            <a:solidFill>
              <a:srgbClr val="6B7A90"/>
            </a:solidFill>
            <a:prstDash val="solid"/>
            <a:tailEnd type="triangle"/>
          </a:ln>
        </p:spPr>
      </p:sp>
      <p:sp>
        <p:nvSpPr>
          <p:cNvPr id="56" name="Shape 54"/>
          <p:cNvSpPr/>
          <p:nvPr/>
        </p:nvSpPr>
        <p:spPr>
          <a:xfrm>
            <a:off x="9134856" y="4709160"/>
            <a:ext cx="2606040" cy="457200"/>
          </a:xfrm>
          <a:prstGeom prst="rect">
            <a:avLst/>
          </a:prstGeom>
          <a:solidFill>
            <a:srgbClr val="00A651"/>
          </a:solidFill>
          <a:ln w="12700">
            <a:solidFill>
              <a:srgbClr val="00A651"/>
            </a:solidFill>
            <a:prstDash val="solid"/>
          </a:ln>
        </p:spPr>
      </p:sp>
      <p:sp>
        <p:nvSpPr>
          <p:cNvPr id="57" name="Text 55"/>
          <p:cNvSpPr txBox="1"/>
          <p:nvPr/>
        </p:nvSpPr>
        <p:spPr>
          <a:xfrm>
            <a:off x="9226296" y="4709160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Phase 11: Delivery</a:t>
            </a:r>
            <a:endParaRPr lang="en-US" sz="1400" dirty="0"/>
          </a:p>
        </p:txBody>
      </p:sp>
      <p:sp>
        <p:nvSpPr>
          <p:cNvPr id="58" name="Shape 56"/>
          <p:cNvSpPr/>
          <p:nvPr/>
        </p:nvSpPr>
        <p:spPr>
          <a:xfrm>
            <a:off x="9134856" y="5166360"/>
            <a:ext cx="2606040" cy="868680"/>
          </a:xfrm>
          <a:prstGeom prst="rect">
            <a:avLst/>
          </a:prstGeom>
          <a:solidFill>
            <a:srgbClr val="F5F8FC"/>
          </a:solidFill>
          <a:ln w="12700">
            <a:solidFill>
              <a:srgbClr val="00A651"/>
            </a:solidFill>
            <a:prstDash val="solid"/>
          </a:ln>
        </p:spPr>
      </p:sp>
      <p:sp>
        <p:nvSpPr>
          <p:cNvPr id="59" name="Text 57"/>
          <p:cNvSpPr txBox="1"/>
          <p:nvPr/>
        </p:nvSpPr>
        <p:spPr>
          <a:xfrm>
            <a:off x="9226296" y="5212080"/>
            <a:ext cx="2423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Report · presentation · code on GitHub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23015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F7F7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idx="102" type="title" hasCustomPrompt="1"/>
          </p:nvPr>
        </p:nvSpPr>
        <p:spPr>
          <a:xfrm>
            <a:off x="411480" y="365760"/>
            <a:ext cx="1136873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</a:rPr>
              <a:t>Fault Detection Module</a:t>
            </a:r>
            <a:endParaRPr lang="en-US" sz="3200" dirty="0"/>
          </a:p>
        </p:txBody>
      </p:sp>
      <p:sp>
        <p:nvSpPr>
          <p:cNvPr id="4" name="Shape 1"/>
          <p:cNvSpPr/>
          <p:nvPr/>
        </p:nvSpPr>
        <p:spPr>
          <a:xfrm>
            <a:off x="411480" y="1280160"/>
            <a:ext cx="1280160" cy="1325880"/>
          </a:xfrm>
          <a:prstGeom prst="rect">
            <a:avLst/>
          </a:prstGeom>
          <a:solidFill>
            <a:srgbClr val="0070C0"/>
          </a:solidFill>
          <a:ln w="12700">
            <a:solidFill>
              <a:srgbClr val="0070C0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411480" y="1280160"/>
            <a:ext cx="1280160" cy="13258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Signal 1</a:t>
            </a:r>
            <a:endParaRPr lang="en-US" sz="1500" dirty="0"/>
          </a:p>
        </p:txBody>
      </p:sp>
      <p:sp>
        <p:nvSpPr>
          <p:cNvPr id="6" name="Shape 3"/>
          <p:cNvSpPr/>
          <p:nvPr/>
        </p:nvSpPr>
        <p:spPr>
          <a:xfrm>
            <a:off x="1691640" y="1280160"/>
            <a:ext cx="10088575" cy="1325880"/>
          </a:xfrm>
          <a:prstGeom prst="rect">
            <a:avLst/>
          </a:prstGeom>
          <a:solidFill>
            <a:srgbClr val="F5F8FC"/>
          </a:solidFill>
          <a:ln w="15875">
            <a:solidFill>
              <a:srgbClr val="0070C0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1874520" y="1353312"/>
            <a:ext cx="9722815" cy="11887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600" b="1" dirty="0">
                <a:solidFill>
                  <a:srgbClr val="0070C0"/>
                </a:solidFill>
              </a:rPr>
              <a:t>Reconstruction error</a:t>
            </a:r>
            <a:endParaRPr lang="en-US" sz="14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500" dirty="0">
                <a:solidFill>
                  <a:srgbClr val="000000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s⁽¹⁾ᵢ = 1 − σ( 10 · ‖fᵢ − f̂ᵢ‖² / CHW )</a:t>
            </a:r>
            <a:endParaRPr lang="en-US" sz="14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300" dirty="0">
                <a:solidFill>
                  <a:schemeClr val="tx2"/>
                </a:solidFill>
              </a:rPr>
              <a:t>A small autoencoder (256 → 64 → 256 channels) reconstructs the features. Unusual input reconstructs poorly.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411480" y="2743200"/>
            <a:ext cx="1280160" cy="1325880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411480" y="2743200"/>
            <a:ext cx="1280160" cy="13258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Signal 2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1691640" y="2743200"/>
            <a:ext cx="10088575" cy="1325880"/>
          </a:xfrm>
          <a:prstGeom prst="rect">
            <a:avLst/>
          </a:prstGeom>
          <a:solidFill>
            <a:srgbClr val="F5F8FC"/>
          </a:solidFill>
          <a:ln w="15875">
            <a:solidFill>
              <a:srgbClr val="F39C12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1874520" y="2816352"/>
            <a:ext cx="9722815" cy="11887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600" b="1" dirty="0">
                <a:solidFill>
                  <a:srgbClr val="F39C12"/>
                </a:solidFill>
              </a:rPr>
              <a:t>Feature variance</a:t>
            </a:r>
            <a:endParaRPr lang="en-US" sz="14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500" dirty="0">
                <a:solidFill>
                  <a:srgbClr val="000000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s⁽²⁾ᵢ = max(0, 1 − 2 · | Var(fᵢ) / (Var(fᵢ) + 1) − 0.5 |)</a:t>
            </a:r>
            <a:endParaRPr lang="en-US" sz="14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300" dirty="0">
                <a:solidFill>
                  <a:schemeClr val="tx2"/>
                </a:solidFill>
              </a:rPr>
              <a:t>Dropout gives near-zero variance, noise very high variance; the score peaks in between.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411480" y="4206240"/>
            <a:ext cx="1280160" cy="1325880"/>
          </a:xfrm>
          <a:prstGeom prst="rect">
            <a:avLst/>
          </a:prstGeom>
          <a:solidFill>
            <a:srgbClr val="00A651"/>
          </a:solidFill>
          <a:ln w="12700">
            <a:solidFill>
              <a:srgbClr val="00A651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411480" y="4206240"/>
            <a:ext cx="1280160" cy="13258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Signal 3</a:t>
            </a:r>
            <a:endParaRPr lang="en-US" sz="1500" dirty="0"/>
          </a:p>
        </p:txBody>
      </p:sp>
      <p:sp>
        <p:nvSpPr>
          <p:cNvPr id="14" name="Shape 11"/>
          <p:cNvSpPr/>
          <p:nvPr/>
        </p:nvSpPr>
        <p:spPr>
          <a:xfrm>
            <a:off x="1691640" y="4206240"/>
            <a:ext cx="10088575" cy="1325880"/>
          </a:xfrm>
          <a:prstGeom prst="rect">
            <a:avLst/>
          </a:prstGeom>
          <a:solidFill>
            <a:srgbClr val="F5F8FC"/>
          </a:solidFill>
          <a:ln w="15875">
            <a:solidFill>
              <a:srgbClr val="00A651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1874520" y="4279392"/>
            <a:ext cx="9722815" cy="11887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600" b="1" dirty="0">
                <a:solidFill>
                  <a:srgbClr val="00A651"/>
                </a:solidFill>
              </a:rPr>
              <a:t>Prediction entropy</a:t>
            </a:r>
            <a:endParaRPr lang="en-US" sz="14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500" dirty="0">
                <a:solidFill>
                  <a:srgbClr val="000000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s⁽³⁾ᵢ = 1 − H(pᵢ) / log K</a:t>
            </a:r>
            <a:endParaRPr lang="en-US" sz="14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300" dirty="0">
                <a:solidFill>
                  <a:schemeClr val="tx2"/>
                </a:solidFill>
              </a:rPr>
              <a:t>A small classifier predicts classes from pooled features; uncertain predictions lower the score.</a:t>
            </a:r>
            <a:endParaRPr lang="en-US" sz="1400" dirty="0"/>
          </a:p>
        </p:txBody>
      </p:sp>
      <p:sp>
        <p:nvSpPr>
          <p:cNvPr id="16" name="Shape 13"/>
          <p:cNvSpPr/>
          <p:nvPr/>
        </p:nvSpPr>
        <p:spPr>
          <a:xfrm>
            <a:off x="411480" y="5760720"/>
            <a:ext cx="11368735" cy="548640"/>
          </a:xfrm>
          <a:prstGeom prst="rect">
            <a:avLst/>
          </a:prstGeom>
          <a:solidFill>
            <a:srgbClr val="EEF4FB"/>
          </a:solidFill>
          <a:ln w="15875">
            <a:solidFill>
              <a:srgbClr val="0070C0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594360" y="5760720"/>
            <a:ext cx="11002975" cy="5486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070C0"/>
                </a:solidFill>
              </a:rPr>
              <a:t>Combined: </a:t>
            </a:r>
            <a:pPr algn="ctr" indent="0" marL="0">
              <a:buNone/>
            </a:pPr>
            <a:r>
              <a:rPr lang="en-US" sz="1500" dirty="0">
                <a:solidFill>
                  <a:srgbClr val="0070C0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cᵢ = Σₘ softmax(λ)ₘ · s⁽ᵐ⁾ᵢ</a:t>
            </a:r>
            <a:pPr algn="ctr" indent="0" marL="0">
              <a:buNone/>
            </a:pPr>
            <a:r>
              <a:rPr lang="en-US" sz="1500" dirty="0">
                <a:solidFill>
                  <a:srgbClr val="0070C0"/>
                </a:solidFill>
              </a:rPr>
              <a:t>   — λ learned; fault flagged if cᵢ &lt; 0.15; 197,002 parameters for two sensors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23015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F7F7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idx="102" type="title" hasCustomPrompt="1"/>
          </p:nvPr>
        </p:nvSpPr>
        <p:spPr>
          <a:xfrm>
            <a:off x="411480" y="365760"/>
            <a:ext cx="1136873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</a:rPr>
              <a:t>Adaptive Cross-Modal Attention Fusion (ACAF)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411480" y="1234440"/>
            <a:ext cx="6035040" cy="320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595959"/>
                </a:solidFill>
              </a:rPr>
              <a:t>Confidence-gated weights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11480" y="1572768"/>
            <a:ext cx="6035040" cy="594360"/>
          </a:xfrm>
          <a:prstGeom prst="rect">
            <a:avLst/>
          </a:prstGeom>
          <a:solidFill>
            <a:srgbClr val="EEF4FB"/>
          </a:solidFill>
          <a:ln w="12700">
            <a:solidFill>
              <a:srgbClr val="0070C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1572768"/>
            <a:ext cx="5760720" cy="5943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wᵢ = softmax(c / τ)ᵢ ,   Σᵢ wᵢ = 1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411480" y="2331720"/>
            <a:ext cx="6035040" cy="320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595959"/>
                </a:solidFill>
              </a:rPr>
              <a:t>Cross-modal attention (scale s)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11480" y="2670048"/>
            <a:ext cx="6035040" cy="594360"/>
          </a:xfrm>
          <a:prstGeom prst="rect">
            <a:avLst/>
          </a:prstGeom>
          <a:solidFill>
            <a:srgbClr val="EEF4FB"/>
          </a:solidFill>
          <a:ln w="12700">
            <a:solidFill>
              <a:srgbClr val="0070C0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48640" y="2670048"/>
            <a:ext cx="5760720" cy="5943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A⁽ˢ⁾ᵢ = softmax( Qᵢ⁽ˢ⁾ [Kⱼ⁽ˢ⁾]ᵀ / √dₖ ) [Vⱼ⁽ˢ⁾]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411480" y="3429000"/>
            <a:ext cx="6035040" cy="320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595959"/>
                </a:solidFill>
              </a:rPr>
              <a:t>Fused feature at scale s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11480" y="3767328"/>
            <a:ext cx="6035040" cy="594360"/>
          </a:xfrm>
          <a:prstGeom prst="rect">
            <a:avLst/>
          </a:prstGeom>
          <a:solidFill>
            <a:srgbClr val="EEF4FB"/>
          </a:solidFill>
          <a:ln w="12700">
            <a:solidFill>
              <a:srgbClr val="0070C0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48640" y="3767328"/>
            <a:ext cx="5760720" cy="5943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F⁽ˢ⁾ = Σᵢ wᵢ · A⁽ˢ⁾ᵢ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411480" y="4526280"/>
            <a:ext cx="6035040" cy="320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595959"/>
                </a:solidFill>
              </a:rPr>
              <a:t>Multi-task loss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11480" y="4864608"/>
            <a:ext cx="6035040" cy="594360"/>
          </a:xfrm>
          <a:prstGeom prst="rect">
            <a:avLst/>
          </a:prstGeom>
          <a:solidFill>
            <a:srgbClr val="EEF4FB"/>
          </a:solidFill>
          <a:ln w="12700">
            <a:solidFill>
              <a:srgbClr val="0070C0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48640" y="4864608"/>
            <a:ext cx="5760720" cy="5943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L = L_det + L_seg + 0.1 · L_rel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411480" y="5715000"/>
            <a:ext cx="6035040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250" i="1" dirty="0">
                <a:solidFill>
                  <a:srgbClr val="595959"/>
                </a:solidFill>
              </a:rPr>
              <a:t>L_det = focal + box + centerness;  L_seg = 0.5 · CE + 0.5 · Dice;  L_rel = MSE(cᵢ, fault label)</a:t>
            </a:r>
            <a:endParaRPr lang="en-US" sz="125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766560" y="1280160"/>
          <a:ext cx="5010912" cy="914400"/>
        </p:xfrm>
        <a:graphic>
          <a:graphicData uri="http://schemas.openxmlformats.org/drawingml/2006/table">
            <a:tbl>
              <a:tblPr/>
              <a:tblGrid>
                <a:gridCol w="2103120"/>
                <a:gridCol w="2907792"/>
              </a:tblGrid>
              <a:tr h="5669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Parameter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A65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Value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A651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Attention heads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Feature channels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256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Tokens per sensor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 × 8 = 64 (pooled)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Temperature τ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learned: 1.0 → 0.761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FPN scales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 (strides 4, 8, 16, 32)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Attention size (finest)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5,120 × 10,240 → 64 × 128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Parameters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8,143,364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23015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F7F7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idx="102" type="title" hasCustomPrompt="1"/>
          </p:nvPr>
        </p:nvSpPr>
        <p:spPr>
          <a:xfrm>
            <a:off x="411480" y="365760"/>
            <a:ext cx="1136873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</a:rPr>
              <a:t>Detection and Segmentation Heads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11480" y="1325880"/>
            <a:ext cx="5532120" cy="548640"/>
          </a:xfrm>
          <a:prstGeom prst="rect">
            <a:avLst/>
          </a:prstGeom>
          <a:solidFill>
            <a:srgbClr val="0070C0"/>
          </a:solidFill>
          <a:ln w="12700">
            <a:solidFill>
              <a:srgbClr val="0070C0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11480" y="1325880"/>
            <a:ext cx="5532120" cy="5486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Detection Head (FCOS-style)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411480" y="1874520"/>
            <a:ext cx="5532120" cy="3749040"/>
          </a:xfrm>
          <a:prstGeom prst="rect">
            <a:avLst/>
          </a:prstGeom>
          <a:solidFill>
            <a:srgbClr val="F5F8FC"/>
          </a:solidFill>
          <a:ln w="15875">
            <a:solidFill>
              <a:srgbClr val="0070C0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94360" y="2011680"/>
            <a:ext cx="5166360" cy="35204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2"/>
                </a:solidFill>
              </a:rPr>
              <a:t>Design: anchor-free, fully convolutional, one-stage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2"/>
                </a:solidFill>
              </a:rPr>
              <a:t>Input: fused features at 4 FPN scales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2"/>
                </a:solidFill>
              </a:rPr>
              <a:t>Output: class scores, box offsets, centerness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2"/>
                </a:solidFill>
              </a:rPr>
              <a:t>Loss: focal + box regression + centerness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2"/>
                </a:solidFill>
              </a:rPr>
              <a:t>Metric: mAP@0.5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2"/>
                </a:solidFill>
              </a:rPr>
              <a:t>Parameters: 4,736,522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245352" y="1325880"/>
            <a:ext cx="5532120" cy="548640"/>
          </a:xfrm>
          <a:prstGeom prst="rect">
            <a:avLst/>
          </a:prstGeom>
          <a:solidFill>
            <a:srgbClr val="7B3FE4"/>
          </a:solidFill>
          <a:ln w="12700">
            <a:solidFill>
              <a:srgbClr val="7B3FE4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245352" y="1325880"/>
            <a:ext cx="5532120" cy="5486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Segmentation Head (DeepLabV3+-style)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6245352" y="1874520"/>
            <a:ext cx="5532120" cy="3749040"/>
          </a:xfrm>
          <a:prstGeom prst="rect">
            <a:avLst/>
          </a:prstGeom>
          <a:solidFill>
            <a:srgbClr val="F5F8FC"/>
          </a:solidFill>
          <a:ln w="15875">
            <a:solidFill>
              <a:srgbClr val="7B3FE4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428232" y="2011680"/>
            <a:ext cx="5166360" cy="35204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2"/>
                </a:solidFill>
              </a:rPr>
              <a:t>Design: ASPP (dilations 3, 6) + 64-channel decoder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2"/>
                </a:solidFill>
              </a:rPr>
              <a:t>Input: aggregated stride-4 fused feature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2"/>
                </a:solidFill>
              </a:rPr>
              <a:t>Output: per-pixel class map, upsampled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2"/>
                </a:solidFill>
              </a:rPr>
              <a:t>Loss: 0.5 × cross-entropy + 0.5 × Dice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2"/>
                </a:solidFill>
              </a:rPr>
              <a:t>Metric: mIoU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2"/>
                </a:solidFill>
              </a:rPr>
              <a:t>Parameters: 570,498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411480" y="5852160"/>
            <a:ext cx="11368735" cy="38404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300" b="1" i="1" dirty="0">
                <a:solidFill>
                  <a:srgbClr val="595959"/>
                </a:solidFill>
              </a:rPr>
              <a:t>One forward pass returns detections, segmentation, confidence scores and fusion weights together.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23015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F7F7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idx="102" type="title" hasCustomPrompt="1"/>
          </p:nvPr>
        </p:nvSpPr>
        <p:spPr>
          <a:xfrm>
            <a:off x="411480" y="365760"/>
            <a:ext cx="1136873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</a:rPr>
              <a:t>AFTMSF: Detection and Segmentation Results</a:t>
            </a:r>
            <a:endParaRPr lang="en-US" sz="3200" dirty="0"/>
          </a:p>
        </p:txBody>
      </p:sp>
      <p:pic>
        <p:nvPicPr>
          <p:cNvPr id="4" name="Image 0" descr="D:/aftmsf/experiments/figures/fig1_prediction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1325880"/>
            <a:ext cx="11368735" cy="3535528"/>
          </a:xfrm>
          <a:prstGeom prst="rect">
            <a:avLst/>
          </a:prstGeom>
        </p:spPr>
      </p:pic>
      <p:sp>
        <p:nvSpPr>
          <p:cNvPr id="5" name="Text 1"/>
          <p:cNvSpPr txBox="1"/>
          <p:nvPr/>
        </p:nvSpPr>
        <p:spPr>
          <a:xfrm>
            <a:off x="411480" y="5669280"/>
            <a:ext cx="11368735" cy="38404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300" b="1" i="1" dirty="0">
                <a:solidFill>
                  <a:srgbClr val="0070C0"/>
                </a:solidFill>
              </a:rPr>
              <a:t>Night scene (KAIST test): pedestrians are hard to see in RGB, clear in thermal — fusion detects both.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23015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F7F7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idx="102" type="title" hasCustomPrompt="1"/>
          </p:nvPr>
        </p:nvSpPr>
        <p:spPr>
          <a:xfrm>
            <a:off x="411480" y="365760"/>
            <a:ext cx="1136873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</a:rPr>
              <a:t>Datasets Used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11480" y="1280160"/>
            <a:ext cx="3639312" cy="548640"/>
          </a:xfrm>
          <a:prstGeom prst="rect">
            <a:avLst/>
          </a:prstGeom>
          <a:solidFill>
            <a:srgbClr val="0070C0"/>
          </a:solidFill>
          <a:ln w="12700">
            <a:solidFill>
              <a:srgbClr val="0070C0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11480" y="1280160"/>
            <a:ext cx="3639312" cy="5486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KAIST Multispectral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411480" y="1828800"/>
            <a:ext cx="3639312" cy="3977640"/>
          </a:xfrm>
          <a:prstGeom prst="rect">
            <a:avLst/>
          </a:prstGeom>
          <a:solidFill>
            <a:srgbClr val="F5F8FC"/>
          </a:solidFill>
          <a:ln w="15875">
            <a:solidFill>
              <a:srgbClr val="0070C0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94360" y="1920240"/>
            <a:ext cx="3291840" cy="3794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100" b="1" dirty="0">
                <a:solidFill>
                  <a:srgbClr val="0070C0"/>
                </a:solidFill>
              </a:rPr>
              <a:t>SENSORS</a:t>
            </a:r>
            <a:endParaRPr lang="en-US" sz="14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400" dirty="0">
                <a:solidFill>
                  <a:schemeClr val="tx2"/>
                </a:solidFill>
              </a:rPr>
              <a:t>RGB + thermal</a:t>
            </a:r>
            <a:endParaRPr lang="en-US" sz="14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100" b="1" dirty="0">
                <a:solidFill>
                  <a:srgbClr val="0070C0"/>
                </a:solidFill>
              </a:rPr>
              <a:t>SAMPLES</a:t>
            </a:r>
            <a:endParaRPr lang="en-US" sz="14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400" dirty="0">
                <a:solidFill>
                  <a:schemeClr val="tx2"/>
                </a:solidFill>
              </a:rPr>
              <a:t>1,374 image pairs (subset)</a:t>
            </a:r>
            <a:endParaRPr lang="en-US" sz="14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100" b="1" dirty="0">
                <a:solidFill>
                  <a:srgbClr val="0070C0"/>
                </a:solidFill>
              </a:rPr>
              <a:t>SPLIT</a:t>
            </a:r>
            <a:endParaRPr lang="en-US" sz="14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400" dirty="0">
                <a:solidFill>
                  <a:schemeClr val="tx2"/>
                </a:solidFill>
              </a:rPr>
              <a:t>1,107 / 136 / 131 train / val / test</a:t>
            </a:r>
            <a:endParaRPr lang="en-US" sz="14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100" b="1" dirty="0">
                <a:solidFill>
                  <a:srgbClr val="0070C0"/>
                </a:solidFill>
              </a:rPr>
              <a:t>TASK</a:t>
            </a:r>
            <a:endParaRPr lang="en-US" sz="14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400" dirty="0">
                <a:solidFill>
                  <a:schemeClr val="tx2"/>
                </a:solidFill>
              </a:rPr>
              <a:t>Pedestrian detection + segmentation</a:t>
            </a:r>
            <a:endParaRPr lang="en-US" sz="14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100" b="1" dirty="0">
                <a:solidFill>
                  <a:srgbClr val="0070C0"/>
                </a:solidFill>
              </a:rPr>
              <a:t>RESULT</a:t>
            </a:r>
            <a:endParaRPr lang="en-US" sz="14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400" dirty="0">
                <a:solidFill>
                  <a:schemeClr val="tx2"/>
                </a:solidFill>
              </a:rPr>
              <a:t>89.14% mAP, 44.28% mIoU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279392" y="1280160"/>
            <a:ext cx="3639312" cy="548640"/>
          </a:xfrm>
          <a:prstGeom prst="rect">
            <a:avLst/>
          </a:prstGeom>
          <a:solidFill>
            <a:srgbClr val="00A651"/>
          </a:solidFill>
          <a:ln w="12700">
            <a:solidFill>
              <a:srgbClr val="00A651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279392" y="1280160"/>
            <a:ext cx="3639312" cy="5486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KITTI Vision Benchmark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4279392" y="1828800"/>
            <a:ext cx="3639312" cy="3977640"/>
          </a:xfrm>
          <a:prstGeom prst="rect">
            <a:avLst/>
          </a:prstGeom>
          <a:solidFill>
            <a:srgbClr val="F5F8FC"/>
          </a:solidFill>
          <a:ln w="15875">
            <a:solidFill>
              <a:srgbClr val="00A651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462272" y="1920240"/>
            <a:ext cx="3291840" cy="3794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100" b="1" dirty="0">
                <a:solidFill>
                  <a:srgbClr val="00A651"/>
                </a:solidFill>
              </a:rPr>
              <a:t>SENSORS</a:t>
            </a:r>
            <a:endParaRPr lang="en-US" sz="14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400" dirty="0">
                <a:solidFill>
                  <a:schemeClr val="tx2"/>
                </a:solidFill>
              </a:rPr>
              <a:t>RGB + LiDAR depth</a:t>
            </a:r>
            <a:endParaRPr lang="en-US" sz="14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100" b="1" dirty="0">
                <a:solidFill>
                  <a:srgbClr val="00A651"/>
                </a:solidFill>
              </a:rPr>
              <a:t>SAMPLES</a:t>
            </a:r>
            <a:endParaRPr lang="en-US" sz="14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400" dirty="0">
                <a:solidFill>
                  <a:schemeClr val="tx2"/>
                </a:solidFill>
              </a:rPr>
              <a:t>7,481 training samples</a:t>
            </a:r>
            <a:endParaRPr lang="en-US" sz="14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100" b="1" dirty="0">
                <a:solidFill>
                  <a:srgbClr val="00A651"/>
                </a:solidFill>
              </a:rPr>
              <a:t>SPLIT</a:t>
            </a:r>
            <a:endParaRPr lang="en-US" sz="14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400" dirty="0">
                <a:solidFill>
                  <a:schemeClr val="tx2"/>
                </a:solidFill>
              </a:rPr>
              <a:t>90% train / 10% val (748)</a:t>
            </a:r>
            <a:endParaRPr lang="en-US" sz="14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100" b="1" dirty="0">
                <a:solidFill>
                  <a:srgbClr val="00A651"/>
                </a:solidFill>
              </a:rPr>
              <a:t>TASK</a:t>
            </a:r>
            <a:endParaRPr lang="en-US" sz="14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400" dirty="0">
                <a:solidFill>
                  <a:schemeClr val="tx2"/>
                </a:solidFill>
              </a:rPr>
              <a:t>Pedestrian + vehicle detection</a:t>
            </a:r>
            <a:endParaRPr lang="en-US" sz="14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100" b="1" dirty="0">
                <a:solidFill>
                  <a:srgbClr val="00A651"/>
                </a:solidFill>
              </a:rPr>
              <a:t>RESULT</a:t>
            </a:r>
            <a:endParaRPr lang="en-US" sz="14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400" dirty="0">
                <a:solidFill>
                  <a:schemeClr val="tx2"/>
                </a:solidFill>
              </a:rPr>
              <a:t>21.53% mAP, 22.55% mIoU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8147304" y="1280160"/>
            <a:ext cx="3639312" cy="548640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147304" y="1280160"/>
            <a:ext cx="3639312" cy="5486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FLIR ADAS v1.3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8147304" y="1828800"/>
            <a:ext cx="3639312" cy="3977640"/>
          </a:xfrm>
          <a:prstGeom prst="rect">
            <a:avLst/>
          </a:prstGeom>
          <a:solidFill>
            <a:srgbClr val="F5F8FC"/>
          </a:solidFill>
          <a:ln w="15875">
            <a:solidFill>
              <a:srgbClr val="F39C12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330184" y="1920240"/>
            <a:ext cx="3291840" cy="3794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100" b="1" dirty="0">
                <a:solidFill>
                  <a:srgbClr val="F39C12"/>
                </a:solidFill>
              </a:rPr>
              <a:t>SENSORS</a:t>
            </a:r>
            <a:endParaRPr lang="en-US" sz="14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400" dirty="0">
                <a:solidFill>
                  <a:schemeClr val="tx2"/>
                </a:solidFill>
              </a:rPr>
              <a:t>RGB + thermal</a:t>
            </a:r>
            <a:endParaRPr lang="en-US" sz="14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100" b="1" dirty="0">
                <a:solidFill>
                  <a:srgbClr val="F39C12"/>
                </a:solidFill>
              </a:rPr>
              <a:t>SAMPLES</a:t>
            </a:r>
            <a:endParaRPr lang="en-US" sz="14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400" dirty="0">
                <a:solidFill>
                  <a:schemeClr val="tx2"/>
                </a:solidFill>
              </a:rPr>
              <a:t>9,620 image pairs</a:t>
            </a:r>
            <a:endParaRPr lang="en-US" sz="14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100" b="1" dirty="0">
                <a:solidFill>
                  <a:srgbClr val="F39C12"/>
                </a:solidFill>
              </a:rPr>
              <a:t>SPLIT</a:t>
            </a:r>
            <a:endParaRPr lang="en-US" sz="14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400" dirty="0">
                <a:solidFill>
                  <a:schemeClr val="tx2"/>
                </a:solidFill>
              </a:rPr>
              <a:t>8,363 train / 1,257 val</a:t>
            </a:r>
            <a:endParaRPr lang="en-US" sz="14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100" b="1" dirty="0">
                <a:solidFill>
                  <a:srgbClr val="F39C12"/>
                </a:solidFill>
              </a:rPr>
              <a:t>TASK</a:t>
            </a:r>
            <a:endParaRPr lang="en-US" sz="14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400" dirty="0">
                <a:solidFill>
                  <a:schemeClr val="tx2"/>
                </a:solidFill>
              </a:rPr>
              <a:t>Person, bicycle, car</a:t>
            </a:r>
            <a:endParaRPr lang="en-US" sz="14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100" b="1" dirty="0">
                <a:solidFill>
                  <a:srgbClr val="F39C12"/>
                </a:solidFill>
              </a:rPr>
              <a:t>RESULT</a:t>
            </a:r>
            <a:endParaRPr lang="en-US" sz="14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400" dirty="0">
                <a:solidFill>
                  <a:schemeClr val="tx2"/>
                </a:solidFill>
              </a:rPr>
              <a:t>1.52% mAP† , 16.34% mIoU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411480" y="5943600"/>
            <a:ext cx="11368735" cy="38404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300" b="1" i="1" dirty="0">
                <a:solidFill>
                  <a:srgbClr val="595959"/>
                </a:solidFill>
              </a:rPr>
              <a:t>† FLIR objects average about 6 × 15 pixels at 320 × 256 — too small for the stride-4 features. All datasets are public for research.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23015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F7F7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idx="102" type="title" hasCustomPrompt="1"/>
          </p:nvPr>
        </p:nvSpPr>
        <p:spPr>
          <a:xfrm>
            <a:off x="411480" y="365760"/>
            <a:ext cx="1136873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</a:rPr>
              <a:t>Hardware and Software Requirements</a:t>
            </a:r>
            <a:endParaRPr lang="en-US" sz="3200" dirty="0"/>
          </a:p>
        </p:txBody>
      </p:sp>
      <p:sp>
        <p:nvSpPr>
          <p:cNvPr id="4" name="Text 1"/>
          <p:cNvSpPr txBox="1"/>
          <p:nvPr/>
        </p:nvSpPr>
        <p:spPr>
          <a:xfrm>
            <a:off x="411480" y="1188720"/>
            <a:ext cx="5486400" cy="365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0070C0"/>
                </a:solidFill>
              </a:rPr>
              <a:t>Hardware</a:t>
            </a:r>
            <a:endParaRPr lang="en-US" sz="1800" dirty="0"/>
          </a:p>
        </p:txBody>
      </p:sp>
      <p:graphicFrame>
        <p:nvGraphicFramePr>
          <p:cNvPr id="2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1600200"/>
          <a:ext cx="6583680" cy="914400"/>
        </p:xfrm>
        <a:graphic>
          <a:graphicData uri="http://schemas.openxmlformats.org/drawingml/2006/table">
            <a:tbl>
              <a:tblPr/>
              <a:tblGrid>
                <a:gridCol w="1737360"/>
                <a:gridCol w="2194560"/>
                <a:gridCol w="2651760"/>
              </a:tblGrid>
              <a:tr h="5669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Component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Minimum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Used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GPU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NVIDIA, 6 GB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RTX 4050 Laptop, 6 GB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CPU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Intel i5 / Ryzen 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Intel Core i7, 13th gen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RAM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 GB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 GB DDR5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Storage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200 GB free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256 GB SSD + 256 GB HDD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Windows 10 / Ubuntu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Windows 11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NVIDIA driver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CUDA 12.x support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610.62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2"/>
          <p:cNvSpPr txBox="1"/>
          <p:nvPr/>
        </p:nvSpPr>
        <p:spPr>
          <a:xfrm>
            <a:off x="7315200" y="1188720"/>
            <a:ext cx="3657600" cy="365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00A651"/>
                </a:solidFill>
              </a:rPr>
              <a:t>Software</a:t>
            </a:r>
            <a:endParaRPr lang="en-US" sz="1800" dirty="0"/>
          </a:p>
        </p:txBody>
      </p:sp>
      <p:graphicFrame>
        <p:nvGraphicFramePr>
          <p:cNvPr id="41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0" y="1600200"/>
          <a:ext cx="4462272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2267712"/>
              </a:tblGrid>
              <a:tr h="39319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Library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A65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Version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A651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Python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3.10.22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PyTorch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2.6.0 + cu124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torchvision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0.21.0 + cu124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CUDA runtime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12.4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OpenCV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4.11.0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NumPy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2.2.6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Albumentations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2.0.7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TensorBoard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2.19.0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conda (Miniconda)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26.7.1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Git / GitHub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code published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23015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F7F7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idx="102" type="title" hasCustomPrompt="1"/>
          </p:nvPr>
        </p:nvSpPr>
        <p:spPr>
          <a:xfrm>
            <a:off x="411480" y="365760"/>
            <a:ext cx="1136873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</a:rPr>
              <a:t>Training Configuration</a:t>
            </a:r>
            <a:endParaRPr lang="en-US" sz="3200" dirty="0"/>
          </a:p>
        </p:txBody>
      </p:sp>
      <p:sp>
        <p:nvSpPr>
          <p:cNvPr id="4" name="Shape 1"/>
          <p:cNvSpPr/>
          <p:nvPr/>
        </p:nvSpPr>
        <p:spPr>
          <a:xfrm>
            <a:off x="411480" y="1280160"/>
            <a:ext cx="3639312" cy="548640"/>
          </a:xfrm>
          <a:prstGeom prst="rect">
            <a:avLst/>
          </a:prstGeom>
          <a:solidFill>
            <a:srgbClr val="0070C0"/>
          </a:solidFill>
          <a:ln w="12700">
            <a:solidFill>
              <a:srgbClr val="0070C0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411480" y="1280160"/>
            <a:ext cx="3639312" cy="5486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Stage 1: Encoders frozen</a:t>
            </a:r>
            <a:endParaRPr lang="en-US" sz="1700" dirty="0"/>
          </a:p>
        </p:txBody>
      </p:sp>
      <p:sp>
        <p:nvSpPr>
          <p:cNvPr id="6" name="Shape 3"/>
          <p:cNvSpPr/>
          <p:nvPr/>
        </p:nvSpPr>
        <p:spPr>
          <a:xfrm>
            <a:off x="411480" y="1828800"/>
            <a:ext cx="3639312" cy="2331720"/>
          </a:xfrm>
          <a:prstGeom prst="rect">
            <a:avLst/>
          </a:prstGeom>
          <a:solidFill>
            <a:srgbClr val="F5F8FC"/>
          </a:solidFill>
          <a:ln w="15875">
            <a:solidFill>
              <a:srgbClr val="0070C0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640080" y="1965960"/>
            <a:ext cx="1737360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595959"/>
                </a:solidFill>
              </a:rPr>
              <a:t>Epochs (run)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2240280" y="1965960"/>
            <a:ext cx="1600200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0070C0"/>
                </a:solidFill>
              </a:rPr>
              <a:t>10</a:t>
            </a:r>
            <a:endParaRPr lang="en-US" sz="1500" dirty="0"/>
          </a:p>
        </p:txBody>
      </p:sp>
      <p:sp>
        <p:nvSpPr>
          <p:cNvPr id="9" name="Text 6"/>
          <p:cNvSpPr txBox="1"/>
          <p:nvPr/>
        </p:nvSpPr>
        <p:spPr>
          <a:xfrm>
            <a:off x="640080" y="2496312"/>
            <a:ext cx="1737360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595959"/>
                </a:solidFill>
              </a:rPr>
              <a:t>Learning rate</a:t>
            </a:r>
            <a:endParaRPr lang="en-US" sz="1500" dirty="0"/>
          </a:p>
        </p:txBody>
      </p:sp>
      <p:sp>
        <p:nvSpPr>
          <p:cNvPr id="10" name="Text 7"/>
          <p:cNvSpPr txBox="1"/>
          <p:nvPr/>
        </p:nvSpPr>
        <p:spPr>
          <a:xfrm>
            <a:off x="2240280" y="2496312"/>
            <a:ext cx="1600200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0070C0"/>
                </a:solidFill>
              </a:rPr>
              <a:t>1 × 10⁻³</a:t>
            </a:r>
            <a:endParaRPr lang="en-US" sz="1500" dirty="0"/>
          </a:p>
        </p:txBody>
      </p:sp>
      <p:sp>
        <p:nvSpPr>
          <p:cNvPr id="11" name="Text 8"/>
          <p:cNvSpPr txBox="1"/>
          <p:nvPr/>
        </p:nvSpPr>
        <p:spPr>
          <a:xfrm>
            <a:off x="640080" y="3026664"/>
            <a:ext cx="1737360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595959"/>
                </a:solidFill>
              </a:rPr>
              <a:t>Batch size</a:t>
            </a:r>
            <a:endParaRPr lang="en-US" sz="1500" dirty="0"/>
          </a:p>
        </p:txBody>
      </p:sp>
      <p:sp>
        <p:nvSpPr>
          <p:cNvPr id="12" name="Text 9"/>
          <p:cNvSpPr txBox="1"/>
          <p:nvPr/>
        </p:nvSpPr>
        <p:spPr>
          <a:xfrm>
            <a:off x="2240280" y="3026664"/>
            <a:ext cx="1600200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0070C0"/>
                </a:solidFill>
              </a:rPr>
              <a:t>2</a:t>
            </a:r>
            <a:endParaRPr lang="en-US" sz="1500" dirty="0"/>
          </a:p>
        </p:txBody>
      </p:sp>
      <p:sp>
        <p:nvSpPr>
          <p:cNvPr id="13" name="Text 10"/>
          <p:cNvSpPr txBox="1"/>
          <p:nvPr/>
        </p:nvSpPr>
        <p:spPr>
          <a:xfrm>
            <a:off x="640080" y="3557016"/>
            <a:ext cx="1737360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595959"/>
                </a:solidFill>
              </a:rPr>
              <a:t>Encoders</a:t>
            </a:r>
            <a:endParaRPr lang="en-US" sz="1500" dirty="0"/>
          </a:p>
        </p:txBody>
      </p:sp>
      <p:sp>
        <p:nvSpPr>
          <p:cNvPr id="14" name="Text 11"/>
          <p:cNvSpPr txBox="1"/>
          <p:nvPr/>
        </p:nvSpPr>
        <p:spPr>
          <a:xfrm>
            <a:off x="2240280" y="3557016"/>
            <a:ext cx="1600200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0070C0"/>
                </a:solidFill>
              </a:rPr>
              <a:t>Frozen</a:t>
            </a:r>
            <a:endParaRPr lang="en-US" sz="1500" dirty="0"/>
          </a:p>
        </p:txBody>
      </p:sp>
      <p:sp>
        <p:nvSpPr>
          <p:cNvPr id="15" name="Shape 12"/>
          <p:cNvSpPr/>
          <p:nvPr/>
        </p:nvSpPr>
        <p:spPr>
          <a:xfrm>
            <a:off x="4279392" y="1280160"/>
            <a:ext cx="3639312" cy="548640"/>
          </a:xfrm>
          <a:prstGeom prst="rect">
            <a:avLst/>
          </a:prstGeom>
          <a:solidFill>
            <a:srgbClr val="0E9488"/>
          </a:solidFill>
          <a:ln w="12700">
            <a:solidFill>
              <a:srgbClr val="0E9488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4279392" y="1280160"/>
            <a:ext cx="3639312" cy="5486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Stage 2: Last block unfrozen</a:t>
            </a:r>
            <a:endParaRPr lang="en-US" sz="1700" dirty="0"/>
          </a:p>
        </p:txBody>
      </p:sp>
      <p:sp>
        <p:nvSpPr>
          <p:cNvPr id="17" name="Shape 14"/>
          <p:cNvSpPr/>
          <p:nvPr/>
        </p:nvSpPr>
        <p:spPr>
          <a:xfrm>
            <a:off x="4279392" y="1828800"/>
            <a:ext cx="3639312" cy="2331720"/>
          </a:xfrm>
          <a:prstGeom prst="rect">
            <a:avLst/>
          </a:prstGeom>
          <a:solidFill>
            <a:srgbClr val="F5F8FC"/>
          </a:solidFill>
          <a:ln w="15875">
            <a:solidFill>
              <a:srgbClr val="0E9488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4507992" y="1965960"/>
            <a:ext cx="1737360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595959"/>
                </a:solidFill>
              </a:rPr>
              <a:t>Epochs (run)</a:t>
            </a:r>
            <a:endParaRPr lang="en-US" sz="1500" dirty="0"/>
          </a:p>
        </p:txBody>
      </p:sp>
      <p:sp>
        <p:nvSpPr>
          <p:cNvPr id="19" name="Text 16"/>
          <p:cNvSpPr txBox="1"/>
          <p:nvPr/>
        </p:nvSpPr>
        <p:spPr>
          <a:xfrm>
            <a:off x="6108192" y="1965960"/>
            <a:ext cx="1600200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0E9488"/>
                </a:solidFill>
              </a:rPr>
              <a:t>4 of 10</a:t>
            </a:r>
            <a:endParaRPr lang="en-US" sz="1500" dirty="0"/>
          </a:p>
        </p:txBody>
      </p:sp>
      <p:sp>
        <p:nvSpPr>
          <p:cNvPr id="20" name="Text 17"/>
          <p:cNvSpPr txBox="1"/>
          <p:nvPr/>
        </p:nvSpPr>
        <p:spPr>
          <a:xfrm>
            <a:off x="4507992" y="2496312"/>
            <a:ext cx="1737360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595959"/>
                </a:solidFill>
              </a:rPr>
              <a:t>Learning rate</a:t>
            </a:r>
            <a:endParaRPr lang="en-US" sz="1500" dirty="0"/>
          </a:p>
        </p:txBody>
      </p:sp>
      <p:sp>
        <p:nvSpPr>
          <p:cNvPr id="21" name="Text 18"/>
          <p:cNvSpPr txBox="1"/>
          <p:nvPr/>
        </p:nvSpPr>
        <p:spPr>
          <a:xfrm>
            <a:off x="6108192" y="2496312"/>
            <a:ext cx="1600200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0E9488"/>
                </a:solidFill>
              </a:rPr>
              <a:t>5 × 10⁻⁴</a:t>
            </a:r>
            <a:endParaRPr lang="en-US" sz="1500" dirty="0"/>
          </a:p>
        </p:txBody>
      </p:sp>
      <p:sp>
        <p:nvSpPr>
          <p:cNvPr id="22" name="Text 19"/>
          <p:cNvSpPr txBox="1"/>
          <p:nvPr/>
        </p:nvSpPr>
        <p:spPr>
          <a:xfrm>
            <a:off x="4507992" y="3026664"/>
            <a:ext cx="1737360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595959"/>
                </a:solidFill>
              </a:rPr>
              <a:t>Batch size</a:t>
            </a:r>
            <a:endParaRPr lang="en-US" sz="1500" dirty="0"/>
          </a:p>
        </p:txBody>
      </p:sp>
      <p:sp>
        <p:nvSpPr>
          <p:cNvPr id="23" name="Text 20"/>
          <p:cNvSpPr txBox="1"/>
          <p:nvPr/>
        </p:nvSpPr>
        <p:spPr>
          <a:xfrm>
            <a:off x="6108192" y="3026664"/>
            <a:ext cx="1600200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0E9488"/>
                </a:solidFill>
              </a:rPr>
              <a:t>1</a:t>
            </a:r>
            <a:endParaRPr lang="en-US" sz="1500" dirty="0"/>
          </a:p>
        </p:txBody>
      </p:sp>
      <p:sp>
        <p:nvSpPr>
          <p:cNvPr id="24" name="Text 21"/>
          <p:cNvSpPr txBox="1"/>
          <p:nvPr/>
        </p:nvSpPr>
        <p:spPr>
          <a:xfrm>
            <a:off x="4507992" y="3557016"/>
            <a:ext cx="1737360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595959"/>
                </a:solidFill>
              </a:rPr>
              <a:t>Encoders</a:t>
            </a:r>
            <a:endParaRPr lang="en-US" sz="1500" dirty="0"/>
          </a:p>
        </p:txBody>
      </p:sp>
      <p:sp>
        <p:nvSpPr>
          <p:cNvPr id="25" name="Text 22"/>
          <p:cNvSpPr txBox="1"/>
          <p:nvPr/>
        </p:nvSpPr>
        <p:spPr>
          <a:xfrm>
            <a:off x="6108192" y="3557016"/>
            <a:ext cx="1600200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0E9488"/>
                </a:solidFill>
              </a:rPr>
              <a:t>layer4, 0.1× LR</a:t>
            </a:r>
            <a:endParaRPr lang="en-US" sz="1500" dirty="0"/>
          </a:p>
        </p:txBody>
      </p:sp>
      <p:sp>
        <p:nvSpPr>
          <p:cNvPr id="26" name="Shape 23"/>
          <p:cNvSpPr/>
          <p:nvPr/>
        </p:nvSpPr>
        <p:spPr>
          <a:xfrm>
            <a:off x="8147304" y="1280160"/>
            <a:ext cx="3639312" cy="548640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8147304" y="1280160"/>
            <a:ext cx="3639312" cy="5486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Stage 3: Full fine-tune</a:t>
            </a:r>
            <a:endParaRPr lang="en-US" sz="1700" dirty="0"/>
          </a:p>
        </p:txBody>
      </p:sp>
      <p:sp>
        <p:nvSpPr>
          <p:cNvPr id="28" name="Shape 25"/>
          <p:cNvSpPr/>
          <p:nvPr/>
        </p:nvSpPr>
        <p:spPr>
          <a:xfrm>
            <a:off x="8147304" y="1828800"/>
            <a:ext cx="3639312" cy="2331720"/>
          </a:xfrm>
          <a:prstGeom prst="rect">
            <a:avLst/>
          </a:prstGeom>
          <a:solidFill>
            <a:srgbClr val="F5F8FC"/>
          </a:solidFill>
          <a:ln w="15875">
            <a:solidFill>
              <a:srgbClr val="F39C12"/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8375904" y="1965960"/>
            <a:ext cx="1737360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595959"/>
                </a:solidFill>
              </a:rPr>
              <a:t>Epochs (run)</a:t>
            </a:r>
            <a:endParaRPr lang="en-US" sz="1500" dirty="0"/>
          </a:p>
        </p:txBody>
      </p:sp>
      <p:sp>
        <p:nvSpPr>
          <p:cNvPr id="30" name="Text 27"/>
          <p:cNvSpPr txBox="1"/>
          <p:nvPr/>
        </p:nvSpPr>
        <p:spPr>
          <a:xfrm>
            <a:off x="9976104" y="1965960"/>
            <a:ext cx="1600200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F39C12"/>
                </a:solidFill>
              </a:rPr>
              <a:t>36 (6 + 30)</a:t>
            </a:r>
            <a:endParaRPr lang="en-US" sz="1500" dirty="0"/>
          </a:p>
        </p:txBody>
      </p:sp>
      <p:sp>
        <p:nvSpPr>
          <p:cNvPr id="31" name="Text 28"/>
          <p:cNvSpPr txBox="1"/>
          <p:nvPr/>
        </p:nvSpPr>
        <p:spPr>
          <a:xfrm>
            <a:off x="8375904" y="2496312"/>
            <a:ext cx="1737360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595959"/>
                </a:solidFill>
              </a:rPr>
              <a:t>Learning rate</a:t>
            </a:r>
            <a:endParaRPr lang="en-US" sz="1500" dirty="0"/>
          </a:p>
        </p:txBody>
      </p:sp>
      <p:sp>
        <p:nvSpPr>
          <p:cNvPr id="32" name="Text 29"/>
          <p:cNvSpPr txBox="1"/>
          <p:nvPr/>
        </p:nvSpPr>
        <p:spPr>
          <a:xfrm>
            <a:off x="9976104" y="2496312"/>
            <a:ext cx="1600200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F39C12"/>
                </a:solidFill>
              </a:rPr>
              <a:t>1 × 10⁻⁴</a:t>
            </a:r>
            <a:endParaRPr lang="en-US" sz="1500" dirty="0"/>
          </a:p>
        </p:txBody>
      </p:sp>
      <p:sp>
        <p:nvSpPr>
          <p:cNvPr id="33" name="Text 30"/>
          <p:cNvSpPr txBox="1"/>
          <p:nvPr/>
        </p:nvSpPr>
        <p:spPr>
          <a:xfrm>
            <a:off x="8375904" y="3026664"/>
            <a:ext cx="1737360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595959"/>
                </a:solidFill>
              </a:rPr>
              <a:t>Batch size</a:t>
            </a:r>
            <a:endParaRPr lang="en-US" sz="1500" dirty="0"/>
          </a:p>
        </p:txBody>
      </p:sp>
      <p:sp>
        <p:nvSpPr>
          <p:cNvPr id="34" name="Text 31"/>
          <p:cNvSpPr txBox="1"/>
          <p:nvPr/>
        </p:nvSpPr>
        <p:spPr>
          <a:xfrm>
            <a:off x="9976104" y="3026664"/>
            <a:ext cx="1600200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F39C12"/>
                </a:solidFill>
              </a:rPr>
              <a:t>1</a:t>
            </a:r>
            <a:endParaRPr lang="en-US" sz="1500" dirty="0"/>
          </a:p>
        </p:txBody>
      </p:sp>
      <p:sp>
        <p:nvSpPr>
          <p:cNvPr id="35" name="Text 32"/>
          <p:cNvSpPr txBox="1"/>
          <p:nvPr/>
        </p:nvSpPr>
        <p:spPr>
          <a:xfrm>
            <a:off x="8375904" y="3557016"/>
            <a:ext cx="1737360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595959"/>
                </a:solidFill>
              </a:rPr>
              <a:t>Encoders</a:t>
            </a:r>
            <a:endParaRPr lang="en-US" sz="1500" dirty="0"/>
          </a:p>
        </p:txBody>
      </p:sp>
      <p:sp>
        <p:nvSpPr>
          <p:cNvPr id="36" name="Text 33"/>
          <p:cNvSpPr txBox="1"/>
          <p:nvPr/>
        </p:nvSpPr>
        <p:spPr>
          <a:xfrm>
            <a:off x="9976104" y="3557016"/>
            <a:ext cx="1600200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F39C12"/>
                </a:solidFill>
              </a:rPr>
              <a:t>All, 0.1× LR</a:t>
            </a:r>
            <a:endParaRPr lang="en-US" sz="1500" dirty="0"/>
          </a:p>
        </p:txBody>
      </p:sp>
      <p:sp>
        <p:nvSpPr>
          <p:cNvPr id="37" name="Text 34"/>
          <p:cNvSpPr txBox="1"/>
          <p:nvPr/>
        </p:nvSpPr>
        <p:spPr>
          <a:xfrm>
            <a:off x="411480" y="4389120"/>
            <a:ext cx="7315200" cy="365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0070C0"/>
                </a:solidFill>
              </a:rPr>
              <a:t>Common to all stages</a:t>
            </a:r>
            <a:endParaRPr lang="en-US" sz="1800" dirty="0"/>
          </a:p>
        </p:txBody>
      </p:sp>
      <p:sp>
        <p:nvSpPr>
          <p:cNvPr id="38" name="Text 35"/>
          <p:cNvSpPr txBox="1"/>
          <p:nvPr/>
        </p:nvSpPr>
        <p:spPr>
          <a:xfrm>
            <a:off x="411480" y="4846320"/>
            <a:ext cx="2103120" cy="4114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595959"/>
                </a:solidFill>
              </a:rPr>
              <a:t>Optimiser</a:t>
            </a:r>
            <a:endParaRPr lang="en-US" sz="1500" dirty="0"/>
          </a:p>
        </p:txBody>
      </p:sp>
      <p:sp>
        <p:nvSpPr>
          <p:cNvPr id="39" name="Text 36"/>
          <p:cNvSpPr txBox="1"/>
          <p:nvPr/>
        </p:nvSpPr>
        <p:spPr>
          <a:xfrm>
            <a:off x="2514600" y="4846320"/>
            <a:ext cx="3474720" cy="4114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070C0"/>
                </a:solidFill>
              </a:rPr>
              <a:t>AdamW, weight decay 10⁻⁴</a:t>
            </a:r>
            <a:endParaRPr lang="en-US" sz="1500" dirty="0"/>
          </a:p>
        </p:txBody>
      </p:sp>
      <p:sp>
        <p:nvSpPr>
          <p:cNvPr id="40" name="Text 37"/>
          <p:cNvSpPr txBox="1"/>
          <p:nvPr/>
        </p:nvSpPr>
        <p:spPr>
          <a:xfrm>
            <a:off x="6172200" y="4846320"/>
            <a:ext cx="2103120" cy="4114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595959"/>
                </a:solidFill>
              </a:rPr>
              <a:t>Schedule</a:t>
            </a:r>
            <a:endParaRPr lang="en-US" sz="1500" dirty="0"/>
          </a:p>
        </p:txBody>
      </p:sp>
      <p:sp>
        <p:nvSpPr>
          <p:cNvPr id="41" name="Text 38"/>
          <p:cNvSpPr txBox="1"/>
          <p:nvPr/>
        </p:nvSpPr>
        <p:spPr>
          <a:xfrm>
            <a:off x="8275320" y="4846320"/>
            <a:ext cx="3474720" cy="4114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070C0"/>
                </a:solidFill>
              </a:rPr>
              <a:t>Cosine annealing</a:t>
            </a:r>
            <a:endParaRPr lang="en-US" sz="1500" dirty="0"/>
          </a:p>
        </p:txBody>
      </p:sp>
      <p:sp>
        <p:nvSpPr>
          <p:cNvPr id="42" name="Text 39"/>
          <p:cNvSpPr txBox="1"/>
          <p:nvPr/>
        </p:nvSpPr>
        <p:spPr>
          <a:xfrm>
            <a:off x="411480" y="5303520"/>
            <a:ext cx="2103120" cy="4114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595959"/>
                </a:solidFill>
              </a:rPr>
              <a:t>Precision</a:t>
            </a:r>
            <a:endParaRPr lang="en-US" sz="1500" dirty="0"/>
          </a:p>
        </p:txBody>
      </p:sp>
      <p:sp>
        <p:nvSpPr>
          <p:cNvPr id="43" name="Text 40"/>
          <p:cNvSpPr txBox="1"/>
          <p:nvPr/>
        </p:nvSpPr>
        <p:spPr>
          <a:xfrm>
            <a:off x="2514600" y="5303520"/>
            <a:ext cx="3474720" cy="4114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070C0"/>
                </a:solidFill>
              </a:rPr>
              <a:t>FP16 mixed precision</a:t>
            </a:r>
            <a:endParaRPr lang="en-US" sz="1500" dirty="0"/>
          </a:p>
        </p:txBody>
      </p:sp>
      <p:sp>
        <p:nvSpPr>
          <p:cNvPr id="44" name="Text 41"/>
          <p:cNvSpPr txBox="1"/>
          <p:nvPr/>
        </p:nvSpPr>
        <p:spPr>
          <a:xfrm>
            <a:off x="6172200" y="5303520"/>
            <a:ext cx="2103120" cy="4114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595959"/>
                </a:solidFill>
              </a:rPr>
              <a:t>Gradient clipping</a:t>
            </a:r>
            <a:endParaRPr lang="en-US" sz="1500" dirty="0"/>
          </a:p>
        </p:txBody>
      </p:sp>
      <p:sp>
        <p:nvSpPr>
          <p:cNvPr id="45" name="Text 42"/>
          <p:cNvSpPr txBox="1"/>
          <p:nvPr/>
        </p:nvSpPr>
        <p:spPr>
          <a:xfrm>
            <a:off x="8275320" y="5303520"/>
            <a:ext cx="3474720" cy="4114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070C0"/>
                </a:solidFill>
              </a:rPr>
              <a:t>ℓ₂ norm 10</a:t>
            </a:r>
            <a:endParaRPr lang="en-US" sz="1500" dirty="0"/>
          </a:p>
        </p:txBody>
      </p:sp>
      <p:sp>
        <p:nvSpPr>
          <p:cNvPr id="46" name="Text 43"/>
          <p:cNvSpPr txBox="1"/>
          <p:nvPr/>
        </p:nvSpPr>
        <p:spPr>
          <a:xfrm>
            <a:off x="411480" y="5760720"/>
            <a:ext cx="2103120" cy="4114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595959"/>
                </a:solidFill>
              </a:rPr>
              <a:t>Fault injection</a:t>
            </a:r>
            <a:endParaRPr lang="en-US" sz="1500" dirty="0"/>
          </a:p>
        </p:txBody>
      </p:sp>
      <p:sp>
        <p:nvSpPr>
          <p:cNvPr id="47" name="Text 44"/>
          <p:cNvSpPr txBox="1"/>
          <p:nvPr/>
        </p:nvSpPr>
        <p:spPr>
          <a:xfrm>
            <a:off x="2514600" y="5760720"/>
            <a:ext cx="3474720" cy="4114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070C0"/>
                </a:solidFill>
              </a:rPr>
              <a:t>p = 0.15 per sample</a:t>
            </a:r>
            <a:endParaRPr lang="en-US" sz="1500" dirty="0"/>
          </a:p>
        </p:txBody>
      </p:sp>
      <p:sp>
        <p:nvSpPr>
          <p:cNvPr id="48" name="Text 45"/>
          <p:cNvSpPr txBox="1"/>
          <p:nvPr/>
        </p:nvSpPr>
        <p:spPr>
          <a:xfrm>
            <a:off x="6172200" y="5760720"/>
            <a:ext cx="2103120" cy="4114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595959"/>
                </a:solidFill>
              </a:rPr>
              <a:t>Loss</a:t>
            </a:r>
            <a:endParaRPr lang="en-US" sz="1500" dirty="0"/>
          </a:p>
        </p:txBody>
      </p:sp>
      <p:sp>
        <p:nvSpPr>
          <p:cNvPr id="49" name="Text 46"/>
          <p:cNvSpPr txBox="1"/>
          <p:nvPr/>
        </p:nvSpPr>
        <p:spPr>
          <a:xfrm>
            <a:off x="8275320" y="5760720"/>
            <a:ext cx="3474720" cy="4114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070C0"/>
                </a:solidFill>
              </a:rPr>
              <a:t>L_det + L_seg + 0.1 · L_rel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23015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F7F7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idx="102" type="title" hasCustomPrompt="1"/>
          </p:nvPr>
        </p:nvSpPr>
        <p:spPr>
          <a:xfrm>
            <a:off x="411480" y="365760"/>
            <a:ext cx="1136873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</a:rPr>
              <a:t>Project Directory and Implementation</a:t>
            </a:r>
            <a:endParaRPr lang="en-US" sz="3200" dirty="0"/>
          </a:p>
        </p:txBody>
      </p:sp>
      <p:sp>
        <p:nvSpPr>
          <p:cNvPr id="4" name="Shape 1"/>
          <p:cNvSpPr/>
          <p:nvPr/>
        </p:nvSpPr>
        <p:spPr>
          <a:xfrm>
            <a:off x="411480" y="1280160"/>
            <a:ext cx="6492240" cy="4983480"/>
          </a:xfrm>
          <a:prstGeom prst="rect">
            <a:avLst/>
          </a:prstGeom>
          <a:solidFill>
            <a:srgbClr val="F7F9FC"/>
          </a:solidFill>
          <a:ln w="15875">
            <a:solidFill>
              <a:srgbClr val="0070C0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594360" y="1417320"/>
            <a:ext cx="6217920" cy="47548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62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aftmsf/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62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configs/        kaist / kitti / flir .yaml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62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data/           datasets (not in repo)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62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src/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62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├── datasets/   kaist / kitti / flir loaders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62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├── models/     encoders, fault_detector, acaf,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62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│               heads, aftmsf_model, baselines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62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├── losses/     multitask, reliability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62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├── experiments/ fault, baseline, ablation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62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├── train*.py, evaluate*.py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62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└── benchmark.py, visualize*.py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62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experiments/    models, logs, results, figures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62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paper/          report + presentation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62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└── README.md, RUN_COMMANDS.md</a:t>
            </a:r>
            <a:endParaRPr lang="en-US" sz="1300" dirty="0"/>
          </a:p>
        </p:txBody>
      </p:sp>
      <p:graphicFrame>
        <p:nvGraphicFramePr>
          <p:cNvPr id="2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178040" y="1280160"/>
          <a:ext cx="4599432" cy="914400"/>
        </p:xfrm>
        <a:graphic>
          <a:graphicData uri="http://schemas.openxmlformats.org/drawingml/2006/table">
            <a:tbl>
              <a:tblPr/>
              <a:tblGrid>
                <a:gridCol w="2560320"/>
                <a:gridCol w="2039112"/>
              </a:tblGrid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Module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Parameters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RGB encoder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26,854,464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Thermal encoder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26,848,192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Fault detector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197,002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ACAF module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8,143,364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Detection head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4,736,522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Segmentation head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570,498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00A6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 (KAIST)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7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00A6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67,350,042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7EE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 (KITTI, with depth)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43,835,518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 3"/>
          <p:cNvSpPr txBox="1"/>
          <p:nvPr/>
        </p:nvSpPr>
        <p:spPr>
          <a:xfrm>
            <a:off x="7178040" y="5897880"/>
            <a:ext cx="4599432" cy="365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595959"/>
                </a:solidFill>
              </a:rPr>
              <a:t>25+ Python modules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23015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F7F7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idx="102" type="title" hasCustomPrompt="1"/>
          </p:nvPr>
        </p:nvSpPr>
        <p:spPr>
          <a:xfrm>
            <a:off x="411480" y="365760"/>
            <a:ext cx="1136873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</a:rPr>
              <a:t>Loss Function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11480" y="1280160"/>
            <a:ext cx="11368735" cy="731520"/>
          </a:xfrm>
          <a:prstGeom prst="rect">
            <a:avLst/>
          </a:prstGeom>
          <a:solidFill>
            <a:srgbClr val="EEF4FB"/>
          </a:solidFill>
          <a:ln w="15875">
            <a:solidFill>
              <a:srgbClr val="0070C0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11480" y="1280160"/>
            <a:ext cx="11368735" cy="7315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70C0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L = (L_focal + L_box + L_ctr) + (0.5 · L_CE + 0.5 · L_Dice) + 0.1 · L_rel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11480" y="2240280"/>
            <a:ext cx="2651760" cy="1143000"/>
          </a:xfrm>
          <a:prstGeom prst="rect">
            <a:avLst/>
          </a:prstGeom>
          <a:solidFill>
            <a:srgbClr val="0070C0"/>
          </a:solidFill>
          <a:ln w="12700">
            <a:solidFill>
              <a:srgbClr val="0070C0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411480" y="2240280"/>
            <a:ext cx="2651760" cy="11430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Detection loss</a:t>
            </a:r>
            <a:endParaRPr lang="en-US" sz="14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weight 1.0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063240" y="2240280"/>
            <a:ext cx="8716975" cy="1143000"/>
          </a:xfrm>
          <a:prstGeom prst="rect">
            <a:avLst/>
          </a:prstGeom>
          <a:solidFill>
            <a:srgbClr val="F5F8FC"/>
          </a:solidFill>
          <a:ln w="15875">
            <a:solidFill>
              <a:srgbClr val="0070C0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246120" y="2240280"/>
            <a:ext cx="8351215" cy="11430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Focal loss — handles the many background locations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Box regression — predicts box sides from each location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Centerness — down-weights off-centre predictions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11480" y="3520440"/>
            <a:ext cx="2651760" cy="1143000"/>
          </a:xfrm>
          <a:prstGeom prst="rect">
            <a:avLst/>
          </a:prstGeom>
          <a:solidFill>
            <a:srgbClr val="7B3FE4"/>
          </a:solidFill>
          <a:ln w="12700">
            <a:solidFill>
              <a:srgbClr val="7B3FE4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11480" y="3520440"/>
            <a:ext cx="2651760" cy="11430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Segmentation loss</a:t>
            </a:r>
            <a:endParaRPr lang="en-US" sz="14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weight 1.0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3063240" y="3520440"/>
            <a:ext cx="8716975" cy="1143000"/>
          </a:xfrm>
          <a:prstGeom prst="rect">
            <a:avLst/>
          </a:prstGeom>
          <a:solidFill>
            <a:srgbClr val="F5F8FC"/>
          </a:solidFill>
          <a:ln w="15875">
            <a:solidFill>
              <a:srgbClr val="7B3FE4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3246120" y="3520440"/>
            <a:ext cx="8351215" cy="11430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Cross-entropy — per-pixel classification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Dice — overlap loss, robust to class imbalance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11480" y="4800600"/>
            <a:ext cx="2651760" cy="1143000"/>
          </a:xfrm>
          <a:prstGeom prst="rect">
            <a:avLst/>
          </a:prstGeom>
          <a:solidFill>
            <a:srgbClr val="00A651"/>
          </a:solidFill>
          <a:ln w="12700">
            <a:solidFill>
              <a:srgbClr val="00A651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11480" y="4800600"/>
            <a:ext cx="2651760" cy="11430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Reliability loss</a:t>
            </a:r>
            <a:endParaRPr lang="en-US" sz="14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weight 0.1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3063240" y="4800600"/>
            <a:ext cx="8716975" cy="1143000"/>
          </a:xfrm>
          <a:prstGeom prst="rect">
            <a:avLst/>
          </a:prstGeom>
          <a:solidFill>
            <a:srgbClr val="F5F8FC"/>
          </a:solidFill>
          <a:ln w="15875">
            <a:solidFill>
              <a:srgbClr val="00A651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3246120" y="4800600"/>
            <a:ext cx="8351215" cy="11430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Mean squared error between each confidence cᵢ and its fault label (0.9 healthy, 0.1 faulty) from the synthetic fault injector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411480" y="6080760"/>
            <a:ext cx="11368735" cy="38404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300" b="1" i="1" dirty="0">
                <a:solidFill>
                  <a:srgbClr val="595959"/>
                </a:solidFill>
              </a:rPr>
              <a:t>Detection loss dominates the total; only the total loss was logged per epoch.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23015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F7F7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idx="102" type="title" hasCustomPrompt="1"/>
          </p:nvPr>
        </p:nvSpPr>
        <p:spPr>
          <a:xfrm>
            <a:off x="411480" y="365760"/>
            <a:ext cx="1136873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</a:rPr>
              <a:t>Training Loss Convergence</a:t>
            </a:r>
            <a:endParaRPr lang="en-US" sz="3200" dirty="0"/>
          </a:p>
        </p:txBody>
      </p:sp>
      <p:graphicFrame>
        <p:nvGraphicFramePr>
          <p:cNvPr id="2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1234440"/>
          <a:ext cx="11368735" cy="914400"/>
        </p:xfrm>
        <a:graphic>
          <a:graphicData uri="http://schemas.openxmlformats.org/drawingml/2006/table">
            <a:tbl>
              <a:tblPr/>
              <a:tblGrid>
                <a:gridCol w="1188720"/>
                <a:gridCol w="822960"/>
                <a:gridCol w="914400"/>
                <a:gridCol w="1005840"/>
                <a:gridCol w="1755648"/>
                <a:gridCol w="1188720"/>
                <a:gridCol w="822960"/>
                <a:gridCol w="914400"/>
                <a:gridCol w="1005840"/>
                <a:gridCol w="1746504"/>
              </a:tblGrid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Dataset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Stage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Epochs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Start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Final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Dataset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Stage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Epochs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Start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Final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KAIST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9.88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4.02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KITTI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6.95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5.81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KAIST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3.60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2.03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FLIR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4.78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3.90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KAIST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36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1.59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0.559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FLIR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3.22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2.76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KITTI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11.96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7.12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FLIR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2.72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2.28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pic>
        <p:nvPicPr>
          <p:cNvPr id="5" name="Image 0" descr="D:/aftmsf/experiments/figures_paper/fig1_training_curves_all_dataset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7270" y="3017520"/>
            <a:ext cx="10597155" cy="2926080"/>
          </a:xfrm>
          <a:prstGeom prst="rect">
            <a:avLst/>
          </a:prstGeom>
        </p:spPr>
      </p:pic>
      <p:sp>
        <p:nvSpPr>
          <p:cNvPr id="6" name="Text 1"/>
          <p:cNvSpPr txBox="1"/>
          <p:nvPr/>
        </p:nvSpPr>
        <p:spPr>
          <a:xfrm>
            <a:off x="411480" y="6053328"/>
            <a:ext cx="11368735" cy="38404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300" b="1" i="1" dirty="0">
                <a:solidFill>
                  <a:srgbClr val="0070C0"/>
                </a:solidFill>
              </a:rPr>
              <a:t>KAIST total loss fell 94.3% (9.88 → 0.559) over 50 epochs.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23015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F7F7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24</a:t>
            </a:fld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idx="102" type="title" hasCustomPrompt="1"/>
          </p:nvPr>
        </p:nvSpPr>
        <p:spPr>
          <a:xfrm>
            <a:off x="411480" y="365760"/>
            <a:ext cx="1136873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</a:rPr>
              <a:t>Comparison with Baselines</a:t>
            </a:r>
            <a:endParaRPr lang="en-US" sz="32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411480" y="1234440"/>
          <a:ext cx="7223760" cy="48463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1"/>
          <p:cNvSpPr/>
          <p:nvPr/>
        </p:nvSpPr>
        <p:spPr>
          <a:xfrm>
            <a:off x="8001000" y="1325880"/>
            <a:ext cx="3776472" cy="1143000"/>
          </a:xfrm>
          <a:prstGeom prst="rect">
            <a:avLst/>
          </a:prstGeom>
          <a:solidFill>
            <a:srgbClr val="F5F8FC"/>
          </a:solidFill>
          <a:ln w="15875">
            <a:solidFill>
              <a:srgbClr val="0070C0"/>
            </a:solidFill>
            <a:prstDash val="solid"/>
          </a:ln>
        </p:spPr>
      </p:sp>
      <p:sp>
        <p:nvSpPr>
          <p:cNvPr id="6" name="Text 2"/>
          <p:cNvSpPr txBox="1"/>
          <p:nvPr/>
        </p:nvSpPr>
        <p:spPr>
          <a:xfrm>
            <a:off x="8001000" y="1435608"/>
            <a:ext cx="3776472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070C0"/>
                </a:solidFill>
              </a:rPr>
              <a:t>89.14%</a:t>
            </a:r>
            <a:endParaRPr lang="en-US" sz="3200" dirty="0"/>
          </a:p>
        </p:txBody>
      </p:sp>
      <p:sp>
        <p:nvSpPr>
          <p:cNvPr id="7" name="Text 3"/>
          <p:cNvSpPr txBox="1"/>
          <p:nvPr/>
        </p:nvSpPr>
        <p:spPr>
          <a:xfrm>
            <a:off x="8092440" y="1954530"/>
            <a:ext cx="35935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dirty="0">
                <a:solidFill>
                  <a:schemeClr val="tx2"/>
                </a:solidFill>
              </a:rPr>
              <a:t>AFTMSF mAP@0.5</a:t>
            </a:r>
            <a:endParaRPr lang="en-US" sz="1250" dirty="0"/>
          </a:p>
        </p:txBody>
      </p:sp>
      <p:sp>
        <p:nvSpPr>
          <p:cNvPr id="8" name="Shape 4"/>
          <p:cNvSpPr/>
          <p:nvPr/>
        </p:nvSpPr>
        <p:spPr>
          <a:xfrm>
            <a:off x="8001000" y="2606040"/>
            <a:ext cx="3776472" cy="1143000"/>
          </a:xfrm>
          <a:prstGeom prst="rect">
            <a:avLst/>
          </a:prstGeom>
          <a:solidFill>
            <a:srgbClr val="EEF9F1"/>
          </a:solidFill>
          <a:ln w="15875">
            <a:solidFill>
              <a:srgbClr val="00A651"/>
            </a:solidFill>
            <a:prstDash val="solid"/>
          </a:ln>
        </p:spPr>
      </p:sp>
      <p:sp>
        <p:nvSpPr>
          <p:cNvPr id="9" name="Text 5"/>
          <p:cNvSpPr txBox="1"/>
          <p:nvPr/>
        </p:nvSpPr>
        <p:spPr>
          <a:xfrm>
            <a:off x="8001000" y="2715768"/>
            <a:ext cx="3776472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0A651"/>
                </a:solidFill>
              </a:rPr>
              <a:t>+11.25 pp</a:t>
            </a:r>
            <a:endParaRPr lang="en-US" sz="3200" dirty="0"/>
          </a:p>
        </p:txBody>
      </p:sp>
      <p:sp>
        <p:nvSpPr>
          <p:cNvPr id="10" name="Text 6"/>
          <p:cNvSpPr txBox="1"/>
          <p:nvPr/>
        </p:nvSpPr>
        <p:spPr>
          <a:xfrm>
            <a:off x="8092440" y="3234690"/>
            <a:ext cx="35935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dirty="0">
                <a:solidFill>
                  <a:schemeClr val="tx2"/>
                </a:solidFill>
              </a:rPr>
              <a:t>vs Late Fusion (best baseline)</a:t>
            </a:r>
            <a:endParaRPr lang="en-US" sz="1250" dirty="0"/>
          </a:p>
        </p:txBody>
      </p:sp>
      <p:sp>
        <p:nvSpPr>
          <p:cNvPr id="11" name="Shape 7"/>
          <p:cNvSpPr/>
          <p:nvPr/>
        </p:nvSpPr>
        <p:spPr>
          <a:xfrm>
            <a:off x="8001000" y="3886200"/>
            <a:ext cx="3776472" cy="1143000"/>
          </a:xfrm>
          <a:prstGeom prst="rect">
            <a:avLst/>
          </a:prstGeom>
          <a:solidFill>
            <a:srgbClr val="F5F8FC"/>
          </a:solidFill>
          <a:ln w="15875">
            <a:solidFill>
              <a:srgbClr val="0E9488"/>
            </a:solidFill>
            <a:prstDash val="solid"/>
          </a:ln>
        </p:spPr>
      </p:sp>
      <p:sp>
        <p:nvSpPr>
          <p:cNvPr id="12" name="Text 8"/>
          <p:cNvSpPr txBox="1"/>
          <p:nvPr/>
        </p:nvSpPr>
        <p:spPr>
          <a:xfrm>
            <a:off x="8001000" y="3995928"/>
            <a:ext cx="3776472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E9488"/>
                </a:solidFill>
              </a:rPr>
              <a:t>+19.17 pp</a:t>
            </a:r>
            <a:endParaRPr lang="en-US" sz="3200" dirty="0"/>
          </a:p>
        </p:txBody>
      </p:sp>
      <p:sp>
        <p:nvSpPr>
          <p:cNvPr id="13" name="Text 9"/>
          <p:cNvSpPr txBox="1"/>
          <p:nvPr/>
        </p:nvSpPr>
        <p:spPr>
          <a:xfrm>
            <a:off x="8092440" y="4514850"/>
            <a:ext cx="35935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dirty="0">
                <a:solidFill>
                  <a:schemeClr val="tx2"/>
                </a:solidFill>
              </a:rPr>
              <a:t>vs RGB Only — the value of thermal</a:t>
            </a:r>
            <a:endParaRPr lang="en-US" sz="1250" dirty="0"/>
          </a:p>
        </p:txBody>
      </p:sp>
      <p:sp>
        <p:nvSpPr>
          <p:cNvPr id="14" name="Text 10"/>
          <p:cNvSpPr txBox="1"/>
          <p:nvPr/>
        </p:nvSpPr>
        <p:spPr>
          <a:xfrm>
            <a:off x="8001000" y="5166360"/>
            <a:ext cx="3776472" cy="9144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250" i="1" dirty="0">
                <a:solidFill>
                  <a:srgbClr val="595959"/>
                </a:solidFill>
              </a:rPr>
              <a:t>Baselines were trained for 5 epochs without fault injection, so part of the gap comes from training budget.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23015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F7F7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25</a:t>
            </a:fld>
            <a:endParaRPr 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idx="102" type="title" hasCustomPrompt="1"/>
          </p:nvPr>
        </p:nvSpPr>
        <p:spPr>
          <a:xfrm>
            <a:off x="411480" y="365760"/>
            <a:ext cx="1136873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</a:rPr>
              <a:t>Robustness: AFTMSF vs Baselines Under Faults</a:t>
            </a:r>
            <a:endParaRPr lang="en-US" sz="32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411480" y="1188720"/>
          <a:ext cx="8138160" cy="49377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1"/>
          <p:cNvSpPr/>
          <p:nvPr/>
        </p:nvSpPr>
        <p:spPr>
          <a:xfrm>
            <a:off x="8823960" y="1325880"/>
            <a:ext cx="2953512" cy="1371600"/>
          </a:xfrm>
          <a:prstGeom prst="rect">
            <a:avLst/>
          </a:prstGeom>
          <a:solidFill>
            <a:srgbClr val="FDF3F3"/>
          </a:solidFill>
          <a:ln w="15875">
            <a:solidFill>
              <a:srgbClr val="C00000"/>
            </a:solidFill>
            <a:prstDash val="solid"/>
          </a:ln>
        </p:spPr>
      </p:sp>
      <p:sp>
        <p:nvSpPr>
          <p:cNvPr id="6" name="Text 2"/>
          <p:cNvSpPr txBox="1"/>
          <p:nvPr/>
        </p:nvSpPr>
        <p:spPr>
          <a:xfrm>
            <a:off x="8823960" y="1435608"/>
            <a:ext cx="295351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C00000"/>
                </a:solidFill>
              </a:rPr>
              <a:t>0%</a:t>
            </a:r>
            <a:endParaRPr lang="en-US" sz="3200" dirty="0"/>
          </a:p>
        </p:txBody>
      </p:sp>
      <p:sp>
        <p:nvSpPr>
          <p:cNvPr id="7" name="Text 3"/>
          <p:cNvSpPr txBox="1"/>
          <p:nvPr/>
        </p:nvSpPr>
        <p:spPr>
          <a:xfrm>
            <a:off x="8915400" y="2080260"/>
            <a:ext cx="27706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dirty="0">
                <a:solidFill>
                  <a:schemeClr val="tx2"/>
                </a:solidFill>
              </a:rPr>
              <a:t>all 3 baselines under RGB dropout</a:t>
            </a:r>
            <a:endParaRPr lang="en-US" sz="1250" dirty="0"/>
          </a:p>
        </p:txBody>
      </p:sp>
      <p:sp>
        <p:nvSpPr>
          <p:cNvPr id="8" name="Shape 4"/>
          <p:cNvSpPr/>
          <p:nvPr/>
        </p:nvSpPr>
        <p:spPr>
          <a:xfrm>
            <a:off x="8823960" y="2834640"/>
            <a:ext cx="2953512" cy="1371600"/>
          </a:xfrm>
          <a:prstGeom prst="rect">
            <a:avLst/>
          </a:prstGeom>
          <a:solidFill>
            <a:srgbClr val="EEF9F1"/>
          </a:solidFill>
          <a:ln w="15875">
            <a:solidFill>
              <a:srgbClr val="00A651"/>
            </a:solidFill>
            <a:prstDash val="solid"/>
          </a:ln>
        </p:spPr>
      </p:sp>
      <p:sp>
        <p:nvSpPr>
          <p:cNvPr id="9" name="Text 5"/>
          <p:cNvSpPr txBox="1"/>
          <p:nvPr/>
        </p:nvSpPr>
        <p:spPr>
          <a:xfrm>
            <a:off x="8823960" y="2944368"/>
            <a:ext cx="295351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0A651"/>
                </a:solidFill>
              </a:rPr>
              <a:t>63.85%</a:t>
            </a:r>
            <a:endParaRPr lang="en-US" sz="3200" dirty="0"/>
          </a:p>
        </p:txBody>
      </p:sp>
      <p:sp>
        <p:nvSpPr>
          <p:cNvPr id="10" name="Text 6"/>
          <p:cNvSpPr txBox="1"/>
          <p:nvPr/>
        </p:nvSpPr>
        <p:spPr>
          <a:xfrm>
            <a:off x="8915400" y="3589020"/>
            <a:ext cx="27706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dirty="0">
                <a:solidFill>
                  <a:schemeClr val="tx2"/>
                </a:solidFill>
              </a:rPr>
              <a:t>AFTMSF under RGB dropout</a:t>
            </a:r>
            <a:endParaRPr lang="en-US" sz="1250" dirty="0"/>
          </a:p>
        </p:txBody>
      </p:sp>
      <p:sp>
        <p:nvSpPr>
          <p:cNvPr id="11" name="Text 7"/>
          <p:cNvSpPr txBox="1"/>
          <p:nvPr/>
        </p:nvSpPr>
        <p:spPr>
          <a:xfrm>
            <a:off x="8823960" y="4389120"/>
            <a:ext cx="2953512" cy="9144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595959"/>
                </a:solidFill>
              </a:rPr>
              <a:t>RGB Only under RGB faults: </a:t>
            </a:r>
            <a:pPr indent="0" marL="0">
              <a:buNone/>
            </a:pPr>
            <a:r>
              <a:rPr lang="en-US" sz="1250" dirty="0">
                <a:solidFill>
                  <a:srgbClr val="595959"/>
                </a:solidFill>
              </a:rPr>
              <a:t>dropout 0.00, blur 0.00, occlusion 59.86, noise 68.34</a:t>
            </a:r>
            <a:endParaRPr lang="en-US" sz="1250" dirty="0"/>
          </a:p>
        </p:txBody>
      </p:sp>
      <p:sp>
        <p:nvSpPr>
          <p:cNvPr id="12" name="Text 8"/>
          <p:cNvSpPr txBox="1"/>
          <p:nvPr/>
        </p:nvSpPr>
        <p:spPr>
          <a:xfrm>
            <a:off x="8823960" y="5349240"/>
            <a:ext cx="2953512" cy="7315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0A651"/>
                </a:solidFill>
              </a:rPr>
              <a:t>AFTMSF is best under all 8 faults.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23015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F7F7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26</a:t>
            </a:fld>
            <a:endParaRPr lang="en-US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idx="102" type="title" hasCustomPrompt="1"/>
          </p:nvPr>
        </p:nvSpPr>
        <p:spPr>
          <a:xfrm>
            <a:off x="411480" y="365760"/>
            <a:ext cx="1136873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</a:rPr>
              <a:t>Fault Injection Results</a:t>
            </a:r>
            <a:endParaRPr lang="en-US" sz="3200" dirty="0"/>
          </a:p>
        </p:txBody>
      </p:sp>
      <p:graphicFrame>
        <p:nvGraphicFramePr>
          <p:cNvPr id="2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1280160"/>
          <a:ext cx="11368735" cy="914400"/>
        </p:xfrm>
        <a:graphic>
          <a:graphicData uri="http://schemas.openxmlformats.org/drawingml/2006/table">
            <a:tbl>
              <a:tblPr/>
              <a:tblGrid>
                <a:gridCol w="1280160"/>
                <a:gridCol w="1828800"/>
                <a:gridCol w="1463040"/>
                <a:gridCol w="1188720"/>
                <a:gridCol w="1371600"/>
                <a:gridCol w="4233672"/>
              </a:tblGrid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Sensor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Fault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mAP@0.5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Δ (pp)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mIoU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Comment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00A6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7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00A6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None (clean)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7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00A6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89.14%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7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00A6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7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00A6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44.28%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7E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00A6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All sensors healthy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7EE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RGB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Dropout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63.85%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-25.28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34.42%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Worst case; thermal keeps the system working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RGB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Blur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69.83%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-19.30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37.64%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Large drop; RGB confidence falls to 0.36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RGB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Occlusion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78.77%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-10.36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44.91%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Moderate; segmentation unaffected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RGB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Gaussian noise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80.82%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-8.31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42.00%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Moderate drop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Thermal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Dropout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78.20%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-10.93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39.87%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RGB compensates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Thermal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Blur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79.41%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-9.73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38.86%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Moderate drop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Thermal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Occlusion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81.03%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-8.11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44.87%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Smallest drop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Thermal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Gaussian noise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80.61%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-8.52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40.47%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Moderate drop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</a:tr>
            </a:tbl>
          </a:graphicData>
        </a:graphic>
      </p:graphicFrame>
      <p:sp>
        <p:nvSpPr>
          <p:cNvPr id="5" name="Text 1"/>
          <p:cNvSpPr txBox="1"/>
          <p:nvPr/>
        </p:nvSpPr>
        <p:spPr>
          <a:xfrm>
            <a:off x="411480" y="5989320"/>
            <a:ext cx="11368735" cy="38404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300" b="1" i="1" dirty="0">
                <a:solidFill>
                  <a:srgbClr val="00A651"/>
                </a:solidFill>
              </a:rPr>
              <a:t>Above 63.85% mAP under every fault — graceful degradation confirmed.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23015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F7F7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27</a:t>
            </a:fld>
            <a:endParaRPr lang="en-US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idx="102" type="title" hasCustomPrompt="1"/>
          </p:nvPr>
        </p:nvSpPr>
        <p:spPr>
          <a:xfrm>
            <a:off x="411480" y="365760"/>
            <a:ext cx="1136873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</a:rPr>
              <a:t>Ablation Study: Does the Fault Detector Help?</a:t>
            </a:r>
            <a:endParaRPr lang="en-US" sz="3200" dirty="0"/>
          </a:p>
        </p:txBody>
      </p:sp>
      <p:graphicFrame>
        <p:nvGraphicFramePr>
          <p:cNvPr id="2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1280160"/>
          <a:ext cx="5760720" cy="914400"/>
        </p:xfrm>
        <a:graphic>
          <a:graphicData uri="http://schemas.openxmlformats.org/drawingml/2006/table">
            <a:tbl>
              <a:tblPr/>
              <a:tblGrid>
                <a:gridCol w="3200400"/>
                <a:gridCol w="1280160"/>
                <a:gridCol w="1280160"/>
              </a:tblGrid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Configuration (clean data)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mAP@0.5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mIoU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AFTMSF full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89.14%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44.28%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Without entropy signal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89.31%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45.10%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Without fault detector (equal weights)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89.20%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45.55%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57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92240" y="1280160"/>
          <a:ext cx="5285232" cy="914400"/>
        </p:xfrm>
        <a:graphic>
          <a:graphicData uri="http://schemas.openxmlformats.org/drawingml/2006/table">
            <a:tbl>
              <a:tblPr/>
              <a:tblGrid>
                <a:gridCol w="1993392"/>
                <a:gridCol w="1097280"/>
                <a:gridCol w="1097280"/>
                <a:gridCol w="1097280"/>
              </a:tblGrid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Fault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948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With FD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948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Without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948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Δ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9488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RGB dropout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63.85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64.68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-0.82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RGB blur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69.83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69.92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-0.09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RGB occlusion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78.77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79.54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-0.77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RGB noise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80.82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80.93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-0.11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Thermal dropout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78.20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77.48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+0.72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Thermal blur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79.41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78.68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+0.72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Thermal occlusion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81.03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80.93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+0.10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Thermal noise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80.61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80.35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+0.26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card What this shows"/>
          <p:cNvSpPr/>
          <p:nvPr/>
        </p:nvSpPr>
        <p:spPr>
          <a:xfrm>
            <a:off x="411480" y="3337560"/>
            <a:ext cx="5760720" cy="2606040"/>
          </a:xfrm>
          <a:prstGeom prst="rect">
            <a:avLst/>
          </a:prstGeom>
          <a:solidFill>
            <a:srgbClr val="F5F8FC"/>
          </a:solidFill>
          <a:ln w="15875">
            <a:solidFill>
              <a:srgbClr val="0070C0"/>
            </a:solidFill>
            <a:prstDash val="solid"/>
          </a:ln>
        </p:spPr>
      </p:sp>
      <p:sp>
        <p:nvSpPr>
          <p:cNvPr id="7" name="Text 2"/>
          <p:cNvSpPr txBox="1"/>
          <p:nvPr/>
        </p:nvSpPr>
        <p:spPr>
          <a:xfrm>
            <a:off x="548640" y="34290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070C0"/>
                </a:solidFill>
              </a:rPr>
              <a:t>What this shows</a:t>
            </a:r>
            <a:endParaRPr lang="en-US" sz="1600" dirty="0"/>
          </a:p>
        </p:txBody>
      </p:sp>
      <p:sp>
        <p:nvSpPr>
          <p:cNvPr id="8" name="Text 3"/>
          <p:cNvSpPr txBox="1"/>
          <p:nvPr/>
        </p:nvSpPr>
        <p:spPr>
          <a:xfrm>
            <a:off x="548640" y="3840480"/>
            <a:ext cx="54864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tx2"/>
                </a:solidFill>
              </a:rPr>
              <a:t>Removing the fault detector changes mAP by less than 1 pp — on clean data and under every fault.</a:t>
            </a:r>
            <a:endParaRPr lang="en-US" sz="1400" dirty="0"/>
          </a:p>
          <a:p>
            <a:pPr algn="l" indent="0" marL="0">
              <a:spcAft>
                <a:spcPts val="400"/>
              </a:spcAft>
              <a:buNone/>
            </a:pPr>
            <a:endParaRPr lang="en-US" sz="1400" dirty="0"/>
          </a:p>
          <a:p>
            <a:pPr algn="l"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tx2"/>
                </a:solidFill>
              </a:rPr>
              <a:t>The robustness comes from cross-modal attention plus fault-injection training. Stronger reliability supervision is the next step.</a:t>
            </a:r>
            <a:endParaRPr lang="en-US" sz="1400" dirty="0"/>
          </a:p>
        </p:txBody>
      </p:sp>
      <p:sp>
        <p:nvSpPr>
          <p:cNvPr id="9" name="Text 4"/>
          <p:cNvSpPr txBox="1"/>
          <p:nvPr/>
        </p:nvSpPr>
        <p:spPr>
          <a:xfrm>
            <a:off x="6492240" y="4983480"/>
            <a:ext cx="5285232" cy="5486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595959"/>
                </a:solidFill>
              </a:rPr>
              <a:t>mAP@0.5 (%) under each fault, with and without the fault detector (FD)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23015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F7F7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28</a:t>
            </a:fld>
            <a:endParaRPr lang="en-US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idx="102" type="title" hasCustomPrompt="1"/>
          </p:nvPr>
        </p:nvSpPr>
        <p:spPr>
          <a:xfrm>
            <a:off x="411480" y="365760"/>
            <a:ext cx="1136873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</a:rPr>
              <a:t>Confidence Score Analysis</a:t>
            </a:r>
            <a:endParaRPr lang="en-US" sz="32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411480" y="1188720"/>
          <a:ext cx="6949440" cy="49834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card RGB dropout: 0.717 → 0.389"/>
          <p:cNvSpPr/>
          <p:nvPr/>
        </p:nvSpPr>
        <p:spPr>
          <a:xfrm>
            <a:off x="7680960" y="1280160"/>
            <a:ext cx="4096512" cy="1143000"/>
          </a:xfrm>
          <a:prstGeom prst="rect">
            <a:avLst/>
          </a:prstGeom>
          <a:solidFill>
            <a:srgbClr val="F5F8FC"/>
          </a:solidFill>
          <a:ln w="15875">
            <a:solidFill>
              <a:srgbClr val="C00000"/>
            </a:solidFill>
            <a:prstDash val="solid"/>
          </a:ln>
        </p:spPr>
      </p:sp>
      <p:sp>
        <p:nvSpPr>
          <p:cNvPr id="6" name="Text 2"/>
          <p:cNvSpPr txBox="1"/>
          <p:nvPr/>
        </p:nvSpPr>
        <p:spPr>
          <a:xfrm>
            <a:off x="7818120" y="1371600"/>
            <a:ext cx="38221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C00000"/>
                </a:solidFill>
              </a:rPr>
              <a:t>RGB dropout: 0.717 → 0.389</a:t>
            </a:r>
            <a:endParaRPr lang="en-US" sz="1500" dirty="0"/>
          </a:p>
        </p:txBody>
      </p:sp>
      <p:sp>
        <p:nvSpPr>
          <p:cNvPr id="7" name="Text 3"/>
          <p:cNvSpPr txBox="1"/>
          <p:nvPr/>
        </p:nvSpPr>
        <p:spPr>
          <a:xfrm>
            <a:off x="7818120" y="1783080"/>
            <a:ext cx="38221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chemeClr val="tx2"/>
                </a:solidFill>
              </a:rPr>
              <a:t>RGB weight falls 0.59 → 0.49; thermal takes over.</a:t>
            </a:r>
            <a:endParaRPr lang="en-US" sz="1300" dirty="0"/>
          </a:p>
        </p:txBody>
      </p:sp>
      <p:sp>
        <p:nvSpPr>
          <p:cNvPr id="8" name="card Thermal dropout: 0.429 → 0.603"/>
          <p:cNvSpPr/>
          <p:nvPr/>
        </p:nvSpPr>
        <p:spPr>
          <a:xfrm>
            <a:off x="7680960" y="2560320"/>
            <a:ext cx="4096512" cy="1143000"/>
          </a:xfrm>
          <a:prstGeom prst="rect">
            <a:avLst/>
          </a:prstGeom>
          <a:solidFill>
            <a:srgbClr val="F5F8FC"/>
          </a:solidFill>
          <a:ln w="15875">
            <a:solidFill>
              <a:srgbClr val="F39C12"/>
            </a:solidFill>
            <a:prstDash val="solid"/>
          </a:ln>
        </p:spPr>
      </p:sp>
      <p:sp>
        <p:nvSpPr>
          <p:cNvPr id="9" name="Text 5"/>
          <p:cNvSpPr txBox="1"/>
          <p:nvPr/>
        </p:nvSpPr>
        <p:spPr>
          <a:xfrm>
            <a:off x="7818120" y="2651760"/>
            <a:ext cx="38221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39C12"/>
                </a:solidFill>
              </a:rPr>
              <a:t>Thermal dropout: 0.429 → 0.603</a:t>
            </a:r>
            <a:endParaRPr lang="en-US" sz="1500" dirty="0"/>
          </a:p>
        </p:txBody>
      </p:sp>
      <p:sp>
        <p:nvSpPr>
          <p:cNvPr id="10" name="Text 6"/>
          <p:cNvSpPr txBox="1"/>
          <p:nvPr/>
        </p:nvSpPr>
        <p:spPr>
          <a:xfrm>
            <a:off x="7818120" y="3063240"/>
            <a:ext cx="38221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chemeClr val="tx2"/>
                </a:solidFill>
              </a:rPr>
              <a:t>Thermal confidence rises instead of falling — not yet detected.</a:t>
            </a:r>
            <a:endParaRPr lang="en-US" sz="1300" dirty="0"/>
          </a:p>
        </p:txBody>
      </p:sp>
      <p:sp>
        <p:nvSpPr>
          <p:cNvPr id="11" name="card Threshold 0.15: none below"/>
          <p:cNvSpPr/>
          <p:nvPr/>
        </p:nvSpPr>
        <p:spPr>
          <a:xfrm>
            <a:off x="7680960" y="3840480"/>
            <a:ext cx="4096512" cy="1143000"/>
          </a:xfrm>
          <a:prstGeom prst="rect">
            <a:avLst/>
          </a:prstGeom>
          <a:solidFill>
            <a:srgbClr val="F5F8FC"/>
          </a:solidFill>
          <a:ln w="15875">
            <a:solidFill>
              <a:srgbClr val="0070C0"/>
            </a:solidFill>
            <a:prstDash val="solid"/>
          </a:ln>
        </p:spPr>
      </p:sp>
      <p:sp>
        <p:nvSpPr>
          <p:cNvPr id="12" name="Text 8"/>
          <p:cNvSpPr txBox="1"/>
          <p:nvPr/>
        </p:nvSpPr>
        <p:spPr>
          <a:xfrm>
            <a:off x="7818120" y="3931920"/>
            <a:ext cx="38221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070C0"/>
                </a:solidFill>
              </a:rPr>
              <a:t>Threshold 0.15: none below</a:t>
            </a:r>
            <a:endParaRPr lang="en-US" sz="1500" dirty="0"/>
          </a:p>
        </p:txBody>
      </p:sp>
      <p:sp>
        <p:nvSpPr>
          <p:cNvPr id="13" name="Text 9"/>
          <p:cNvSpPr txBox="1"/>
          <p:nvPr/>
        </p:nvSpPr>
        <p:spPr>
          <a:xfrm>
            <a:off x="7818120" y="4343400"/>
            <a:ext cx="38221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chemeClr val="tx2"/>
                </a:solidFill>
              </a:rPr>
              <a:t>Lowest confidence is 0.359 (RGB blur); no sensor is formally flagged.</a:t>
            </a:r>
            <a:endParaRPr lang="en-US" sz="1300" dirty="0"/>
          </a:p>
        </p:txBody>
      </p:sp>
      <p:sp>
        <p:nvSpPr>
          <p:cNvPr id="14" name="card Smooth re-weighting"/>
          <p:cNvSpPr/>
          <p:nvPr/>
        </p:nvSpPr>
        <p:spPr>
          <a:xfrm>
            <a:off x="7680960" y="5120640"/>
            <a:ext cx="4096512" cy="1051560"/>
          </a:xfrm>
          <a:prstGeom prst="rect">
            <a:avLst/>
          </a:prstGeom>
          <a:solidFill>
            <a:srgbClr val="F5F8FC"/>
          </a:solidFill>
          <a:ln w="15875">
            <a:solidFill>
              <a:srgbClr val="00A651"/>
            </a:solidFill>
            <a:prstDash val="solid"/>
          </a:ln>
        </p:spPr>
      </p:sp>
      <p:sp>
        <p:nvSpPr>
          <p:cNvPr id="15" name="Text 11"/>
          <p:cNvSpPr txBox="1"/>
          <p:nvPr/>
        </p:nvSpPr>
        <p:spPr>
          <a:xfrm>
            <a:off x="7818120" y="5212080"/>
            <a:ext cx="38221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0A651"/>
                </a:solidFill>
              </a:rPr>
              <a:t>Smooth re-weighting</a:t>
            </a:r>
            <a:endParaRPr lang="en-US" sz="1500" dirty="0"/>
          </a:p>
        </p:txBody>
      </p:sp>
      <p:sp>
        <p:nvSpPr>
          <p:cNvPr id="16" name="Text 12"/>
          <p:cNvSpPr txBox="1"/>
          <p:nvPr/>
        </p:nvSpPr>
        <p:spPr>
          <a:xfrm>
            <a:off x="7818120" y="5623560"/>
            <a:ext cx="38221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chemeClr val="tx2"/>
                </a:solidFill>
              </a:rPr>
              <a:t>w = softmax(c / τ), learned τ = 0.761 — no hard switching.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23015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F7F7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29</a:t>
            </a:fld>
            <a:endParaRPr lang="en-US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idx="102" type="title" hasCustomPrompt="1"/>
          </p:nvPr>
        </p:nvSpPr>
        <p:spPr>
          <a:xfrm>
            <a:off x="411480" y="365760"/>
            <a:ext cx="1136873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</a:rPr>
              <a:t>Cross-Dataset Generalisation</a:t>
            </a:r>
            <a:endParaRPr lang="en-US" sz="32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411480" y="1188720"/>
          <a:ext cx="6949440" cy="49834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card KAIST (RGB + thermal)"/>
          <p:cNvSpPr/>
          <p:nvPr/>
        </p:nvSpPr>
        <p:spPr>
          <a:xfrm>
            <a:off x="7680960" y="1280160"/>
            <a:ext cx="4096512" cy="1554480"/>
          </a:xfrm>
          <a:prstGeom prst="rect">
            <a:avLst/>
          </a:prstGeom>
          <a:solidFill>
            <a:srgbClr val="F5F8FC"/>
          </a:solidFill>
          <a:ln w="15875">
            <a:solidFill>
              <a:srgbClr val="0070C0"/>
            </a:solidFill>
            <a:prstDash val="solid"/>
          </a:ln>
        </p:spPr>
      </p:sp>
      <p:sp>
        <p:nvSpPr>
          <p:cNvPr id="6" name="Text 2"/>
          <p:cNvSpPr txBox="1"/>
          <p:nvPr/>
        </p:nvSpPr>
        <p:spPr>
          <a:xfrm>
            <a:off x="7818120" y="1371600"/>
            <a:ext cx="38221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070C0"/>
                </a:solidFill>
              </a:rPr>
              <a:t>KAIST (RGB + thermal)</a:t>
            </a:r>
            <a:endParaRPr lang="en-US" sz="1600" dirty="0"/>
          </a:p>
        </p:txBody>
      </p:sp>
      <p:sp>
        <p:nvSpPr>
          <p:cNvPr id="7" name="Text 3"/>
          <p:cNvSpPr txBox="1"/>
          <p:nvPr/>
        </p:nvSpPr>
        <p:spPr>
          <a:xfrm>
            <a:off x="7818120" y="1783080"/>
            <a:ext cx="382219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tx2"/>
                </a:solidFill>
              </a:rPr>
              <a:t>89.14% mAP · 44.28% mIoU · 22.2 FPS</a:t>
            </a:r>
            <a:endParaRPr lang="en-US" sz="1400" dirty="0"/>
          </a:p>
          <a:p>
            <a:pPr algn="l"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tx2"/>
                </a:solidFill>
              </a:rPr>
              <a:t>Main benchmark.</a:t>
            </a:r>
            <a:endParaRPr lang="en-US" sz="1400" dirty="0"/>
          </a:p>
        </p:txBody>
      </p:sp>
      <p:sp>
        <p:nvSpPr>
          <p:cNvPr id="8" name="card KITTI (RGB + LiDAR depth)"/>
          <p:cNvSpPr/>
          <p:nvPr/>
        </p:nvSpPr>
        <p:spPr>
          <a:xfrm>
            <a:off x="7680960" y="2971800"/>
            <a:ext cx="4096512" cy="1554480"/>
          </a:xfrm>
          <a:prstGeom prst="rect">
            <a:avLst/>
          </a:prstGeom>
          <a:solidFill>
            <a:srgbClr val="F5F8FC"/>
          </a:solidFill>
          <a:ln w="15875">
            <a:solidFill>
              <a:srgbClr val="00A651"/>
            </a:solidFill>
            <a:prstDash val="solid"/>
          </a:ln>
        </p:spPr>
      </p:sp>
      <p:sp>
        <p:nvSpPr>
          <p:cNvPr id="9" name="Text 5"/>
          <p:cNvSpPr txBox="1"/>
          <p:nvPr/>
        </p:nvSpPr>
        <p:spPr>
          <a:xfrm>
            <a:off x="7818120" y="3063240"/>
            <a:ext cx="38221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0A651"/>
                </a:solidFill>
              </a:rPr>
              <a:t>KITTI (RGB + LiDAR depth)</a:t>
            </a:r>
            <a:endParaRPr lang="en-US" sz="1600" dirty="0"/>
          </a:p>
        </p:txBody>
      </p:sp>
      <p:sp>
        <p:nvSpPr>
          <p:cNvPr id="10" name="Text 6"/>
          <p:cNvSpPr txBox="1"/>
          <p:nvPr/>
        </p:nvSpPr>
        <p:spPr>
          <a:xfrm>
            <a:off x="7818120" y="3474720"/>
            <a:ext cx="382219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tx2"/>
                </a:solidFill>
              </a:rPr>
              <a:t>21.53% mAP · 22.55% mIoU · 26.0 FPS</a:t>
            </a:r>
            <a:endParaRPr lang="en-US" sz="1400" dirty="0"/>
          </a:p>
          <a:p>
            <a:pPr algn="l"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tx2"/>
                </a:solidFill>
              </a:rPr>
              <a:t>Same architecture, depth encoder swapped in.</a:t>
            </a:r>
            <a:endParaRPr lang="en-US" sz="1400" dirty="0"/>
          </a:p>
        </p:txBody>
      </p:sp>
      <p:sp>
        <p:nvSpPr>
          <p:cNvPr id="11" name="card FLIR (RGB + thermal)"/>
          <p:cNvSpPr/>
          <p:nvPr/>
        </p:nvSpPr>
        <p:spPr>
          <a:xfrm>
            <a:off x="7680960" y="4663440"/>
            <a:ext cx="4096512" cy="1508760"/>
          </a:xfrm>
          <a:prstGeom prst="rect">
            <a:avLst/>
          </a:prstGeom>
          <a:solidFill>
            <a:srgbClr val="F5F8FC"/>
          </a:solidFill>
          <a:ln w="15875">
            <a:solidFill>
              <a:srgbClr val="F39C12"/>
            </a:solidFill>
            <a:prstDash val="solid"/>
          </a:ln>
        </p:spPr>
      </p:sp>
      <p:sp>
        <p:nvSpPr>
          <p:cNvPr id="12" name="Text 8"/>
          <p:cNvSpPr txBox="1"/>
          <p:nvPr/>
        </p:nvSpPr>
        <p:spPr>
          <a:xfrm>
            <a:off x="7818120" y="4754880"/>
            <a:ext cx="38221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39C12"/>
                </a:solidFill>
              </a:rPr>
              <a:t>FLIR (RGB + thermal)</a:t>
            </a:r>
            <a:endParaRPr lang="en-US" sz="1600" dirty="0"/>
          </a:p>
        </p:txBody>
      </p:sp>
      <p:sp>
        <p:nvSpPr>
          <p:cNvPr id="13" name="Text 9"/>
          <p:cNvSpPr txBox="1"/>
          <p:nvPr/>
        </p:nvSpPr>
        <p:spPr>
          <a:xfrm>
            <a:off x="7818120" y="5166360"/>
            <a:ext cx="382219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tx2"/>
                </a:solidFill>
              </a:rPr>
              <a:t>1.52% mAP · 16.34% mIoU · 23.3 FPS</a:t>
            </a:r>
            <a:endParaRPr lang="en-US" sz="1400" dirty="0"/>
          </a:p>
          <a:p>
            <a:pPr algn="l"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tx2"/>
                </a:solidFill>
              </a:rPr>
              <a:t>Objects ≈ 6 × 15 px: too small to detect.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23015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F7F7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30</a:t>
            </a:fld>
            <a:endParaRPr lang="en-US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idx="102" type="title" hasCustomPrompt="1"/>
          </p:nvPr>
        </p:nvSpPr>
        <p:spPr>
          <a:xfrm>
            <a:off x="411480" y="365760"/>
            <a:ext cx="1136873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</a:rPr>
              <a:t>Performance vs Speed Trade-off</a:t>
            </a:r>
            <a:endParaRPr lang="en-US" sz="3200" dirty="0"/>
          </a:p>
        </p:txBody>
      </p:sp>
      <p:graphicFrame>
        <p:nvGraphicFramePr>
          <p:cNvPr id="3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1280160"/>
          <a:ext cx="5852160" cy="914400"/>
        </p:xfrm>
        <a:graphic>
          <a:graphicData uri="http://schemas.openxmlformats.org/drawingml/2006/table">
            <a:tbl>
              <a:tblPr/>
              <a:tblGrid>
                <a:gridCol w="1554480"/>
                <a:gridCol w="1051560"/>
                <a:gridCol w="822960"/>
                <a:gridCol w="1143000"/>
                <a:gridCol w="1280160"/>
              </a:tblGrid>
              <a:tr h="5486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Method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mAP@0.5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FPS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Parameters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Survives RGB failure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RGB Only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69.97%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92.7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27.3M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(0%)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Early Fusion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70.66%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89.6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27.3M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(0%)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Late Fusion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77.89%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48.8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54.1M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(0%)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00A6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AFTMSF (ours)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7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00A6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89.14%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7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00A6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22.2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7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00A6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67.4M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7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00A6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 (63.85%)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7EE"/>
                    </a:solidFill>
                  </a:tcPr>
                </a:tc>
              </a:tr>
            </a:tbl>
          </a:graphicData>
        </a:graphic>
      </p:graphicFrame>
      <p:pic>
        <p:nvPicPr>
          <p:cNvPr id="5" name="Image 0" descr="D:/aftmsf/experiments/figures_paper/fig6_fps_map_tradeo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92240" y="1234440"/>
            <a:ext cx="5285232" cy="3142570"/>
          </a:xfrm>
          <a:prstGeom prst="rect">
            <a:avLst/>
          </a:prstGeom>
        </p:spPr>
      </p:pic>
      <p:sp>
        <p:nvSpPr>
          <p:cNvPr id="6" name="card Trade-off"/>
          <p:cNvSpPr/>
          <p:nvPr/>
        </p:nvSpPr>
        <p:spPr>
          <a:xfrm>
            <a:off x="411480" y="4251960"/>
            <a:ext cx="5852160" cy="1691640"/>
          </a:xfrm>
          <a:prstGeom prst="rect">
            <a:avLst/>
          </a:prstGeom>
          <a:solidFill>
            <a:srgbClr val="F5F8FC"/>
          </a:solidFill>
          <a:ln w="15875">
            <a:solidFill>
              <a:srgbClr val="0070C0"/>
            </a:solidFill>
            <a:prstDash val="solid"/>
          </a:ln>
        </p:spPr>
      </p:sp>
      <p:sp>
        <p:nvSpPr>
          <p:cNvPr id="7" name="Text 2"/>
          <p:cNvSpPr txBox="1"/>
          <p:nvPr/>
        </p:nvSpPr>
        <p:spPr>
          <a:xfrm>
            <a:off x="548640" y="4343400"/>
            <a:ext cx="5577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070C0"/>
                </a:solidFill>
              </a:rPr>
              <a:t>Trade-off</a:t>
            </a:r>
            <a:endParaRPr lang="en-US" sz="1600" dirty="0"/>
          </a:p>
        </p:txBody>
      </p:sp>
      <p:sp>
        <p:nvSpPr>
          <p:cNvPr id="8" name="Text 3"/>
          <p:cNvSpPr txBox="1"/>
          <p:nvPr/>
        </p:nvSpPr>
        <p:spPr>
          <a:xfrm>
            <a:off x="548640" y="4754880"/>
            <a:ext cx="5577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350" dirty="0">
                <a:solidFill>
                  <a:schemeClr val="tx2"/>
                </a:solidFill>
              </a:rPr>
              <a:t>AFTMSF is the most accurate and the only one that survives sensor failure, but slower: 22.2 FPS meets the 10 FPS target, not the ~30 FPS of high-speed driving. INT8 + TensorRT is the planned fix.</a:t>
            </a:r>
            <a:endParaRPr lang="en-US" sz="13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23015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F7F7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31</a:t>
            </a:fld>
            <a:endParaRPr lang="en-US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idx="102" type="title" hasCustomPrompt="1"/>
          </p:nvPr>
        </p:nvSpPr>
        <p:spPr>
          <a:xfrm>
            <a:off x="411480" y="365760"/>
            <a:ext cx="1136873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</a:rPr>
              <a:t>Limitations of the System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11480" y="1280160"/>
            <a:ext cx="11368735" cy="841248"/>
          </a:xfrm>
          <a:prstGeom prst="rect">
            <a:avLst/>
          </a:prstGeom>
          <a:solidFill>
            <a:srgbClr val="F5F8FC"/>
          </a:solidFill>
          <a:ln w="9525">
            <a:solidFill>
              <a:srgbClr val="D0D7E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11480" y="1280160"/>
            <a:ext cx="548640" cy="841248"/>
          </a:xfrm>
          <a:prstGeom prst="rect">
            <a:avLst/>
          </a:prstGeom>
          <a:solidFill>
            <a:srgbClr val="C00000"/>
          </a:solidFill>
          <a:ln w="9525">
            <a:solidFill>
              <a:srgbClr val="C0000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11480" y="1280160"/>
            <a:ext cx="5486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1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1097280" y="1325880"/>
            <a:ext cx="8991295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000000"/>
                </a:solidFill>
              </a:rPr>
              <a:t>Confidence gating has little effect</a:t>
            </a:r>
            <a:endParaRPr lang="en-US" sz="15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50" dirty="0">
                <a:solidFill>
                  <a:schemeClr val="tx2"/>
                </a:solidFill>
              </a:rPr>
              <a:t>Removing it changes mAP by &lt; 1 pp; thermal faults raise thermal confidence instead of lowering it.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10134295" y="1280160"/>
            <a:ext cx="15544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C00000"/>
                </a:solidFill>
              </a:rPr>
              <a:t>Impact: High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11480" y="2240280"/>
            <a:ext cx="11368735" cy="841248"/>
          </a:xfrm>
          <a:prstGeom prst="rect">
            <a:avLst/>
          </a:prstGeom>
          <a:solidFill>
            <a:srgbClr val="F5F8FC"/>
          </a:solidFill>
          <a:ln w="9525">
            <a:solidFill>
              <a:srgbClr val="D0D7E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11480" y="2240280"/>
            <a:ext cx="548640" cy="841248"/>
          </a:xfrm>
          <a:prstGeom prst="rect">
            <a:avLst/>
          </a:prstGeom>
          <a:solidFill>
            <a:srgbClr val="F39C12"/>
          </a:solidFill>
          <a:ln w="9525">
            <a:solidFill>
              <a:srgbClr val="F39C1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11480" y="2240280"/>
            <a:ext cx="5486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2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1097280" y="2286000"/>
            <a:ext cx="8991295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000000"/>
                </a:solidFill>
              </a:rPr>
              <a:t>Unequal baseline training</a:t>
            </a:r>
            <a:endParaRPr lang="en-US" sz="15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50" dirty="0">
                <a:solidFill>
                  <a:schemeClr val="tx2"/>
                </a:solidFill>
              </a:rPr>
              <a:t>Baselines: 5 epochs, no fault injection. AFTMSF: 50 epochs with it.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10134295" y="2240280"/>
            <a:ext cx="15544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F39C12"/>
                </a:solidFill>
              </a:rPr>
              <a:t>Impact: Medium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11480" y="3200400"/>
            <a:ext cx="11368735" cy="841248"/>
          </a:xfrm>
          <a:prstGeom prst="rect">
            <a:avLst/>
          </a:prstGeom>
          <a:solidFill>
            <a:srgbClr val="F5F8FC"/>
          </a:solidFill>
          <a:ln w="9525">
            <a:solidFill>
              <a:srgbClr val="D0D7E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11480" y="3200400"/>
            <a:ext cx="548640" cy="841248"/>
          </a:xfrm>
          <a:prstGeom prst="rect">
            <a:avLst/>
          </a:prstGeom>
          <a:solidFill>
            <a:srgbClr val="F39C12"/>
          </a:solidFill>
          <a:ln w="9525">
            <a:solidFill>
              <a:srgbClr val="F39C12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11480" y="3200400"/>
            <a:ext cx="5486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3</a:t>
            </a:r>
            <a:endParaRPr lang="en-US" sz="2000" dirty="0"/>
          </a:p>
        </p:txBody>
      </p:sp>
      <p:sp>
        <p:nvSpPr>
          <p:cNvPr id="16" name="Text 14"/>
          <p:cNvSpPr txBox="1"/>
          <p:nvPr/>
        </p:nvSpPr>
        <p:spPr>
          <a:xfrm>
            <a:off x="1097280" y="3246120"/>
            <a:ext cx="8991295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000000"/>
                </a:solidFill>
              </a:rPr>
              <a:t>KAIST subset, reduced resolution</a:t>
            </a:r>
            <a:endParaRPr lang="en-US" sz="15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50" dirty="0">
                <a:solidFill>
                  <a:schemeClr val="tx2"/>
                </a:solidFill>
              </a:rPr>
              <a:t>1,374 images at 256 × 320 — not comparable with full-benchmark published results.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10134295" y="3200400"/>
            <a:ext cx="15544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F39C12"/>
                </a:solidFill>
              </a:rPr>
              <a:t>Impact: Medium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11480" y="4160520"/>
            <a:ext cx="11368735" cy="841248"/>
          </a:xfrm>
          <a:prstGeom prst="rect">
            <a:avLst/>
          </a:prstGeom>
          <a:solidFill>
            <a:srgbClr val="F5F8FC"/>
          </a:solidFill>
          <a:ln w="9525">
            <a:solidFill>
              <a:srgbClr val="D0D7E2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11480" y="4160520"/>
            <a:ext cx="548640" cy="841248"/>
          </a:xfrm>
          <a:prstGeom prst="rect">
            <a:avLst/>
          </a:prstGeom>
          <a:solidFill>
            <a:srgbClr val="F39C12"/>
          </a:solidFill>
          <a:ln w="9525">
            <a:solidFill>
              <a:srgbClr val="F39C12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411480" y="4160520"/>
            <a:ext cx="5486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4</a:t>
            </a:r>
            <a:endParaRPr lang="en-US" sz="2000" dirty="0"/>
          </a:p>
        </p:txBody>
      </p:sp>
      <p:sp>
        <p:nvSpPr>
          <p:cNvPr id="21" name="Text 19"/>
          <p:cNvSpPr txBox="1"/>
          <p:nvPr/>
        </p:nvSpPr>
        <p:spPr>
          <a:xfrm>
            <a:off x="1097280" y="4206240"/>
            <a:ext cx="8991295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000000"/>
                </a:solidFill>
              </a:rPr>
              <a:t>FLIR small objects</a:t>
            </a:r>
            <a:endParaRPr lang="en-US" sz="15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50" dirty="0">
                <a:solidFill>
                  <a:schemeClr val="tx2"/>
                </a:solidFill>
              </a:rPr>
              <a:t>1.52% mAP: objects ≈ 6 × 15 px, below stride-4 feature resolution.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10134295" y="4160520"/>
            <a:ext cx="15544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F39C12"/>
                </a:solidFill>
              </a:rPr>
              <a:t>Impact: Medium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411480" y="5120640"/>
            <a:ext cx="11368735" cy="841248"/>
          </a:xfrm>
          <a:prstGeom prst="rect">
            <a:avLst/>
          </a:prstGeom>
          <a:solidFill>
            <a:srgbClr val="F5F8FC"/>
          </a:solidFill>
          <a:ln w="9525">
            <a:solidFill>
              <a:srgbClr val="D0D7E2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11480" y="5120640"/>
            <a:ext cx="548640" cy="841248"/>
          </a:xfrm>
          <a:prstGeom prst="rect">
            <a:avLst/>
          </a:prstGeom>
          <a:solidFill>
            <a:srgbClr val="0070C0"/>
          </a:solidFill>
          <a:ln w="9525">
            <a:solidFill>
              <a:srgbClr val="0070C0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411480" y="5120640"/>
            <a:ext cx="5486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5</a:t>
            </a:r>
            <a:endParaRPr lang="en-US" sz="2000" dirty="0"/>
          </a:p>
        </p:txBody>
      </p:sp>
      <p:sp>
        <p:nvSpPr>
          <p:cNvPr id="26" name="Text 24"/>
          <p:cNvSpPr txBox="1"/>
          <p:nvPr/>
        </p:nvSpPr>
        <p:spPr>
          <a:xfrm>
            <a:off x="1097280" y="5166360"/>
            <a:ext cx="8991295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000000"/>
                </a:solidFill>
              </a:rPr>
              <a:t>Speed and training budget</a:t>
            </a:r>
            <a:endParaRPr lang="en-US" sz="15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50" dirty="0">
                <a:solidFill>
                  <a:schemeClr val="tx2"/>
                </a:solidFill>
              </a:rPr>
              <a:t>22.2 FPS (&lt; 30 FPS target); KITTI trained for 2 stages only; single 6 GB GPU.</a:t>
            </a:r>
            <a:endParaRPr lang="en-US" sz="1500" dirty="0"/>
          </a:p>
        </p:txBody>
      </p:sp>
      <p:sp>
        <p:nvSpPr>
          <p:cNvPr id="27" name="Text 25"/>
          <p:cNvSpPr txBox="1"/>
          <p:nvPr/>
        </p:nvSpPr>
        <p:spPr>
          <a:xfrm>
            <a:off x="10134295" y="5120640"/>
            <a:ext cx="15544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0070C0"/>
                </a:solidFill>
              </a:rPr>
              <a:t>Impact: Low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23015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F7F7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32</a:t>
            </a:fld>
            <a:endParaRPr lang="en-US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idx="102" type="title" hasCustomPrompt="1"/>
          </p:nvPr>
        </p:nvSpPr>
        <p:spPr>
          <a:xfrm>
            <a:off x="411480" y="365760"/>
            <a:ext cx="1136873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</a:rPr>
              <a:t>Future Work and Enhancements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11480" y="1280160"/>
            <a:ext cx="5577840" cy="1463040"/>
          </a:xfrm>
          <a:prstGeom prst="rect">
            <a:avLst/>
          </a:prstGeom>
          <a:solidFill>
            <a:srgbClr val="F5F8FC"/>
          </a:solidFill>
          <a:ln w="15875">
            <a:solidFill>
              <a:srgbClr val="C0000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11480" y="1280160"/>
            <a:ext cx="548640" cy="1463040"/>
          </a:xfrm>
          <a:prstGeom prst="rect">
            <a:avLst/>
          </a:prstGeom>
          <a:solidFill>
            <a:srgbClr val="C00000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11480" y="1280160"/>
            <a:ext cx="5486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1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1097280" y="1353312"/>
            <a:ext cx="4754880" cy="10515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C00000"/>
                </a:solidFill>
              </a:rPr>
              <a:t>Stronger reliability supervision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chemeClr val="tx2"/>
                </a:solidFill>
              </a:rPr>
              <a:t>Larger L_rel weight, thermal-specific faults in training, calibrated threshold so faults are actually flagged.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1097280" y="2377440"/>
            <a:ext cx="4754880" cy="29260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C00000"/>
                </a:solidFill>
              </a:rPr>
              <a:t>Short-term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199632" y="1280160"/>
            <a:ext cx="5577840" cy="1463040"/>
          </a:xfrm>
          <a:prstGeom prst="rect">
            <a:avLst/>
          </a:prstGeom>
          <a:solidFill>
            <a:srgbClr val="F5F8FC"/>
          </a:solidFill>
          <a:ln w="15875">
            <a:solidFill>
              <a:srgbClr val="0070C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199632" y="1280160"/>
            <a:ext cx="548640" cy="1463040"/>
          </a:xfrm>
          <a:prstGeom prst="rect">
            <a:avLst/>
          </a:prstGeom>
          <a:solidFill>
            <a:srgbClr val="0070C0"/>
          </a:solidFill>
          <a:ln w="12700">
            <a:solidFill>
              <a:srgbClr val="0070C0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199632" y="1280160"/>
            <a:ext cx="5486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2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6885432" y="1353312"/>
            <a:ext cx="4754880" cy="10515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0070C0"/>
                </a:solidFill>
              </a:rPr>
              <a:t>Fair baselines, full ablations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chemeClr val="tx2"/>
                </a:solidFill>
              </a:rPr>
              <a:t>Train baselines with the same schedule and fault injection; retrain without each component.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6885432" y="2377440"/>
            <a:ext cx="4754880" cy="29260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070C0"/>
                </a:solidFill>
              </a:rPr>
              <a:t>Short-term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11480" y="2926080"/>
            <a:ext cx="5577840" cy="1463040"/>
          </a:xfrm>
          <a:prstGeom prst="rect">
            <a:avLst/>
          </a:prstGeom>
          <a:solidFill>
            <a:srgbClr val="F5F8FC"/>
          </a:solidFill>
          <a:ln w="15875">
            <a:solidFill>
              <a:srgbClr val="0E948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11480" y="2926080"/>
            <a:ext cx="548640" cy="1463040"/>
          </a:xfrm>
          <a:prstGeom prst="rect">
            <a:avLst/>
          </a:prstGeom>
          <a:solidFill>
            <a:srgbClr val="0E9488"/>
          </a:solidFill>
          <a:ln w="12700">
            <a:solidFill>
              <a:srgbClr val="0E9488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11480" y="2926080"/>
            <a:ext cx="5486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3</a:t>
            </a:r>
            <a:endParaRPr lang="en-US" sz="2000" dirty="0"/>
          </a:p>
        </p:txBody>
      </p:sp>
      <p:sp>
        <p:nvSpPr>
          <p:cNvPr id="16" name="Text 14"/>
          <p:cNvSpPr txBox="1"/>
          <p:nvPr/>
        </p:nvSpPr>
        <p:spPr>
          <a:xfrm>
            <a:off x="1097280" y="2999232"/>
            <a:ext cx="4754880" cy="10515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0E9488"/>
                </a:solidFill>
              </a:rPr>
              <a:t>Small-object detection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chemeClr val="tx2"/>
                </a:solidFill>
              </a:rPr>
              <a:t>Stride-2 feature level and thermal super-resolution for FLIR-scale objects.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1097280" y="4023360"/>
            <a:ext cx="4754880" cy="29260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E9488"/>
                </a:solidFill>
              </a:rPr>
              <a:t>Medium-term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199632" y="2926080"/>
            <a:ext cx="5577840" cy="1463040"/>
          </a:xfrm>
          <a:prstGeom prst="rect">
            <a:avLst/>
          </a:prstGeom>
          <a:solidFill>
            <a:srgbClr val="F5F8FC"/>
          </a:solidFill>
          <a:ln w="15875">
            <a:solidFill>
              <a:srgbClr val="00A651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199632" y="2926080"/>
            <a:ext cx="548640" cy="1463040"/>
          </a:xfrm>
          <a:prstGeom prst="rect">
            <a:avLst/>
          </a:prstGeom>
          <a:solidFill>
            <a:srgbClr val="00A651"/>
          </a:solidFill>
          <a:ln w="12700">
            <a:solidFill>
              <a:srgbClr val="00A651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199632" y="2926080"/>
            <a:ext cx="5486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4</a:t>
            </a:r>
            <a:endParaRPr lang="en-US" sz="2000" dirty="0"/>
          </a:p>
        </p:txBody>
      </p:sp>
      <p:sp>
        <p:nvSpPr>
          <p:cNvPr id="21" name="Text 19"/>
          <p:cNvSpPr txBox="1"/>
          <p:nvPr/>
        </p:nvSpPr>
        <p:spPr>
          <a:xfrm>
            <a:off x="6885432" y="2999232"/>
            <a:ext cx="4754880" cy="10515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00A651"/>
                </a:solidFill>
              </a:rPr>
              <a:t>Edge deployment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chemeClr val="tx2"/>
                </a:solidFill>
              </a:rPr>
              <a:t>INT8 quantisation + TensorRT for &gt; 30 FPS on embedded GPUs (e.g. Jetson).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6885432" y="4023360"/>
            <a:ext cx="4754880" cy="29260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0A651"/>
                </a:solidFill>
              </a:rPr>
              <a:t>Medium-term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11480" y="4572000"/>
            <a:ext cx="5577840" cy="1463040"/>
          </a:xfrm>
          <a:prstGeom prst="rect">
            <a:avLst/>
          </a:prstGeom>
          <a:solidFill>
            <a:srgbClr val="F5F8FC"/>
          </a:solidFill>
          <a:ln w="15875">
            <a:solidFill>
              <a:srgbClr val="7B3FE4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11480" y="4572000"/>
            <a:ext cx="548640" cy="1463040"/>
          </a:xfrm>
          <a:prstGeom prst="rect">
            <a:avLst/>
          </a:prstGeom>
          <a:solidFill>
            <a:srgbClr val="7B3FE4"/>
          </a:solidFill>
          <a:ln w="12700">
            <a:solidFill>
              <a:srgbClr val="7B3FE4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411480" y="4572000"/>
            <a:ext cx="5486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5</a:t>
            </a:r>
            <a:endParaRPr lang="en-US" sz="2000" dirty="0"/>
          </a:p>
        </p:txBody>
      </p:sp>
      <p:sp>
        <p:nvSpPr>
          <p:cNvPr id="26" name="Text 24"/>
          <p:cNvSpPr txBox="1"/>
          <p:nvPr/>
        </p:nvSpPr>
        <p:spPr>
          <a:xfrm>
            <a:off x="1097280" y="4645152"/>
            <a:ext cx="4754880" cy="10515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7B3FE4"/>
                </a:solidFill>
              </a:rPr>
              <a:t>More sensors and data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chemeClr val="tx2"/>
                </a:solidFill>
              </a:rPr>
              <a:t>4D radar; full KAIST benchmark at native 512 × 640 resolution.</a:t>
            </a:r>
            <a:endParaRPr lang="en-US" sz="1400" dirty="0"/>
          </a:p>
        </p:txBody>
      </p:sp>
      <p:sp>
        <p:nvSpPr>
          <p:cNvPr id="27" name="Text 25"/>
          <p:cNvSpPr txBox="1"/>
          <p:nvPr/>
        </p:nvSpPr>
        <p:spPr>
          <a:xfrm>
            <a:off x="1097280" y="5669280"/>
            <a:ext cx="4754880" cy="29260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7B3FE4"/>
                </a:solidFill>
              </a:rPr>
              <a:t>Long-term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6199632" y="4572000"/>
            <a:ext cx="5577840" cy="1463040"/>
          </a:xfrm>
          <a:prstGeom prst="rect">
            <a:avLst/>
          </a:prstGeom>
          <a:solidFill>
            <a:srgbClr val="F5F8FC"/>
          </a:solidFill>
          <a:ln w="15875">
            <a:solidFill>
              <a:srgbClr val="F39C12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199632" y="4572000"/>
            <a:ext cx="548640" cy="1463040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6199632" y="4572000"/>
            <a:ext cx="5486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6</a:t>
            </a:r>
            <a:endParaRPr lang="en-US" sz="2000" dirty="0"/>
          </a:p>
        </p:txBody>
      </p:sp>
      <p:sp>
        <p:nvSpPr>
          <p:cNvPr id="31" name="Text 29"/>
          <p:cNvSpPr txBox="1"/>
          <p:nvPr/>
        </p:nvSpPr>
        <p:spPr>
          <a:xfrm>
            <a:off x="6885432" y="4645152"/>
            <a:ext cx="4754880" cy="10515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F39C12"/>
                </a:solidFill>
              </a:rPr>
              <a:t>Publication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chemeClr val="tx2"/>
                </a:solidFill>
              </a:rPr>
              <a:t>Journal paper with the corrected results, extended ablations and video evaluation.</a:t>
            </a:r>
            <a:endParaRPr lang="en-US" sz="1400" dirty="0"/>
          </a:p>
        </p:txBody>
      </p:sp>
      <p:sp>
        <p:nvSpPr>
          <p:cNvPr id="32" name="Text 30"/>
          <p:cNvSpPr txBox="1"/>
          <p:nvPr/>
        </p:nvSpPr>
        <p:spPr>
          <a:xfrm>
            <a:off x="6885432" y="5669280"/>
            <a:ext cx="4754880" cy="29260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39C12"/>
                </a:solidFill>
              </a:rPr>
              <a:t>After fixes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23015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F7F7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33</a:t>
            </a:fld>
            <a:endParaRPr lang="en-US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idx="102" type="title" hasCustomPrompt="1"/>
          </p:nvPr>
        </p:nvSpPr>
        <p:spPr>
          <a:xfrm>
            <a:off x="411480" y="365760"/>
            <a:ext cx="1136873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</a:rPr>
              <a:t>Conclusion</a:t>
            </a:r>
            <a:endParaRPr lang="en-US" sz="3200" dirty="0"/>
          </a:p>
        </p:txBody>
      </p:sp>
      <p:sp>
        <p:nvSpPr>
          <p:cNvPr id="4" name="Text 1"/>
          <p:cNvSpPr txBox="1"/>
          <p:nvPr/>
        </p:nvSpPr>
        <p:spPr>
          <a:xfrm>
            <a:off x="411480" y="1280160"/>
            <a:ext cx="11368735" cy="2651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chemeClr val="tx2"/>
                </a:solidFill>
              </a:rPr>
              <a:t>89.14% mAP@0.5 and 44.28% mIoU on KAIST — 11.25 pp above the best baseline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chemeClr val="tx2"/>
                </a:solidFill>
              </a:rPr>
              <a:t>63.85% mAP when the RGB camera fails completely; conventional fusion baselines drop to 0%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chemeClr val="tx2"/>
                </a:solidFill>
              </a:rPr>
              <a:t>Best of all methods under all 8 fault conditions; same architecture works for RGB + LiDAR depth (KITTI)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chemeClr val="tx2"/>
                </a:solidFill>
              </a:rPr>
              <a:t>Ablation shows the robustness comes from attention fusion + fault-injection training; the confidence gating is the next thing to improve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chemeClr val="tx2"/>
                </a:solidFill>
              </a:rPr>
              <a:t>Runs at 22.2–26.0 FPS on a 6 GB laptop GPU; all 4 objectives met; code public on GitHub</a:t>
            </a:r>
            <a:endParaRPr lang="en-US" sz="1700" dirty="0"/>
          </a:p>
        </p:txBody>
      </p:sp>
      <p:sp>
        <p:nvSpPr>
          <p:cNvPr id="5" name="Shape 2"/>
          <p:cNvSpPr/>
          <p:nvPr/>
        </p:nvSpPr>
        <p:spPr>
          <a:xfrm>
            <a:off x="411480" y="4160520"/>
            <a:ext cx="2130552" cy="1600200"/>
          </a:xfrm>
          <a:prstGeom prst="rect">
            <a:avLst/>
          </a:prstGeom>
          <a:solidFill>
            <a:srgbClr val="F5F8FC"/>
          </a:solidFill>
          <a:ln w="15875">
            <a:solidFill>
              <a:srgbClr val="0070C0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411480" y="4270248"/>
            <a:ext cx="2130552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070C0"/>
                </a:solidFill>
              </a:rPr>
              <a:t>89.14%</a:t>
            </a:r>
            <a:endParaRPr lang="en-US" sz="3200" dirty="0"/>
          </a:p>
        </p:txBody>
      </p:sp>
      <p:sp>
        <p:nvSpPr>
          <p:cNvPr id="7" name="Text 4"/>
          <p:cNvSpPr txBox="1"/>
          <p:nvPr/>
        </p:nvSpPr>
        <p:spPr>
          <a:xfrm>
            <a:off x="502920" y="5040630"/>
            <a:ext cx="1947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dirty="0">
                <a:solidFill>
                  <a:schemeClr val="tx2"/>
                </a:solidFill>
              </a:rPr>
              <a:t>mAP@0.5 KAIST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2697480" y="4160520"/>
            <a:ext cx="2130552" cy="1600200"/>
          </a:xfrm>
          <a:prstGeom prst="rect">
            <a:avLst/>
          </a:prstGeom>
          <a:solidFill>
            <a:srgbClr val="F5F8FC"/>
          </a:solidFill>
          <a:ln w="15875">
            <a:solidFill>
              <a:srgbClr val="7B3FE4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2697480" y="4270248"/>
            <a:ext cx="2130552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7B3FE4"/>
                </a:solidFill>
              </a:rPr>
              <a:t>44.28%</a:t>
            </a:r>
            <a:endParaRPr lang="en-US" sz="3200" dirty="0"/>
          </a:p>
        </p:txBody>
      </p:sp>
      <p:sp>
        <p:nvSpPr>
          <p:cNvPr id="10" name="Text 7"/>
          <p:cNvSpPr txBox="1"/>
          <p:nvPr/>
        </p:nvSpPr>
        <p:spPr>
          <a:xfrm>
            <a:off x="2788920" y="5040630"/>
            <a:ext cx="1947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dirty="0">
                <a:solidFill>
                  <a:schemeClr val="tx2"/>
                </a:solidFill>
              </a:rPr>
              <a:t>mIoU KAIST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4983480" y="4160520"/>
            <a:ext cx="2130552" cy="1600200"/>
          </a:xfrm>
          <a:prstGeom prst="rect">
            <a:avLst/>
          </a:prstGeom>
          <a:solidFill>
            <a:srgbClr val="F5F8FC"/>
          </a:solidFill>
          <a:ln w="15875">
            <a:solidFill>
              <a:srgbClr val="00A651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4983480" y="4270248"/>
            <a:ext cx="2130552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0A651"/>
                </a:solidFill>
              </a:rPr>
              <a:t>63.85%</a:t>
            </a:r>
            <a:endParaRPr lang="en-US" sz="3200" dirty="0"/>
          </a:p>
        </p:txBody>
      </p:sp>
      <p:sp>
        <p:nvSpPr>
          <p:cNvPr id="13" name="Text 10"/>
          <p:cNvSpPr txBox="1"/>
          <p:nvPr/>
        </p:nvSpPr>
        <p:spPr>
          <a:xfrm>
            <a:off x="5074920" y="5040630"/>
            <a:ext cx="1947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dirty="0">
                <a:solidFill>
                  <a:schemeClr val="tx2"/>
                </a:solidFill>
              </a:rPr>
              <a:t>mAP with RGB failed (baselines 0%)</a:t>
            </a:r>
            <a:endParaRPr lang="en-US" sz="1250" dirty="0"/>
          </a:p>
        </p:txBody>
      </p:sp>
      <p:sp>
        <p:nvSpPr>
          <p:cNvPr id="14" name="Shape 11"/>
          <p:cNvSpPr/>
          <p:nvPr/>
        </p:nvSpPr>
        <p:spPr>
          <a:xfrm>
            <a:off x="7269480" y="4160520"/>
            <a:ext cx="2130552" cy="1600200"/>
          </a:xfrm>
          <a:prstGeom prst="rect">
            <a:avLst/>
          </a:prstGeom>
          <a:solidFill>
            <a:srgbClr val="F5F8FC"/>
          </a:solidFill>
          <a:ln w="15875">
            <a:solidFill>
              <a:srgbClr val="F39C12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7269480" y="4270248"/>
            <a:ext cx="2130552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39C12"/>
                </a:solidFill>
              </a:rPr>
              <a:t>8 / 8</a:t>
            </a:r>
            <a:endParaRPr lang="en-US" sz="3200" dirty="0"/>
          </a:p>
        </p:txBody>
      </p:sp>
      <p:sp>
        <p:nvSpPr>
          <p:cNvPr id="16" name="Text 13"/>
          <p:cNvSpPr txBox="1"/>
          <p:nvPr/>
        </p:nvSpPr>
        <p:spPr>
          <a:xfrm>
            <a:off x="7360920" y="5040630"/>
            <a:ext cx="1947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dirty="0">
                <a:solidFill>
                  <a:schemeClr val="tx2"/>
                </a:solidFill>
              </a:rPr>
              <a:t>fault conditions where AFTMSF is best</a:t>
            </a:r>
            <a:endParaRPr lang="en-US" sz="1250" dirty="0"/>
          </a:p>
        </p:txBody>
      </p:sp>
      <p:sp>
        <p:nvSpPr>
          <p:cNvPr id="17" name="Shape 14"/>
          <p:cNvSpPr/>
          <p:nvPr/>
        </p:nvSpPr>
        <p:spPr>
          <a:xfrm>
            <a:off x="9555480" y="4160520"/>
            <a:ext cx="2130552" cy="1600200"/>
          </a:xfrm>
          <a:prstGeom prst="rect">
            <a:avLst/>
          </a:prstGeom>
          <a:solidFill>
            <a:srgbClr val="F5F8FC"/>
          </a:solidFill>
          <a:ln w="15875">
            <a:solidFill>
              <a:srgbClr val="0E9488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9555480" y="4270248"/>
            <a:ext cx="2130552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E9488"/>
                </a:solidFill>
              </a:rPr>
              <a:t>22.2 FPS</a:t>
            </a:r>
            <a:endParaRPr lang="en-US" sz="3200" dirty="0"/>
          </a:p>
        </p:txBody>
      </p:sp>
      <p:sp>
        <p:nvSpPr>
          <p:cNvPr id="19" name="Text 16"/>
          <p:cNvSpPr txBox="1"/>
          <p:nvPr/>
        </p:nvSpPr>
        <p:spPr>
          <a:xfrm>
            <a:off x="9646920" y="5040630"/>
            <a:ext cx="1947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dirty="0">
                <a:solidFill>
                  <a:schemeClr val="tx2"/>
                </a:solidFill>
              </a:rPr>
              <a:t>on RTX 4050 laptop GPU</a:t>
            </a:r>
            <a:endParaRPr lang="en-US" sz="1250" dirty="0"/>
          </a:p>
        </p:txBody>
      </p:sp>
      <p:sp>
        <p:nvSpPr>
          <p:cNvPr id="20" name="Text 17"/>
          <p:cNvSpPr txBox="1"/>
          <p:nvPr/>
        </p:nvSpPr>
        <p:spPr>
          <a:xfrm>
            <a:off x="411480" y="5943600"/>
            <a:ext cx="11368735" cy="365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A651"/>
                </a:solidFill>
              </a:rPr>
              <a:t>Code, results and report: github.com/Parbinder29/ATMSF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23015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F7F7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34</a:t>
            </a:fld>
            <a:endParaRPr lang="en-US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idx="102" type="title" hasCustomPrompt="1"/>
          </p:nvPr>
        </p:nvSpPr>
        <p:spPr>
          <a:xfrm>
            <a:off x="411480" y="365760"/>
            <a:ext cx="1136873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</a:rPr>
              <a:t>References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411480" y="1280160"/>
            <a:ext cx="11368735" cy="4937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spcAft>
                <a:spcPts val="700"/>
              </a:spcAft>
              <a:buNone/>
            </a:pPr>
            <a:r>
              <a:rPr lang="en-US" sz="1400" dirty="0">
                <a:solidFill>
                  <a:schemeClr val="tx2"/>
                </a:solidFill>
              </a:rPr>
              <a:t>[1]  H. Zhang, F. Li, S. Zhao, H. Ling, "Multisensor data fusion for autonomous driving: A survey," IEEE T-ITS, vol. 22, no. 7, 2020.</a:t>
            </a:r>
            <a:endParaRPr lang="en-US" sz="140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400" dirty="0">
                <a:solidFill>
                  <a:schemeClr val="tx2"/>
                </a:solidFill>
              </a:rPr>
              <a:t>[2]  S. Li, L. Liu, X. Lin, B. Meng, "Deep learning for multimodal data fusion: A review," Inf. Fusion, vol. 76, 2021.</a:t>
            </a:r>
            <a:endParaRPr lang="en-US" sz="140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400" dirty="0">
                <a:solidFill>
                  <a:schemeClr val="tx2"/>
                </a:solidFill>
              </a:rPr>
              <a:t>[3]  S. Hwang et al., "Multispectral pedestrian detection: Benchmark dataset and baseline," CVPR, 2015.</a:t>
            </a:r>
            <a:endParaRPr lang="en-US" sz="140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400" dirty="0">
                <a:solidFill>
                  <a:schemeClr val="tx2"/>
                </a:solidFill>
              </a:rPr>
              <a:t>[4]  FLIR Systems, "FLIR thermal dataset (ADAS v1.3)," 2018. flir.com/oem/adas/adas-dataset-form</a:t>
            </a:r>
            <a:endParaRPr lang="en-US" sz="140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400" dirty="0">
                <a:solidFill>
                  <a:schemeClr val="tx2"/>
                </a:solidFill>
              </a:rPr>
              <a:t>[5]  A. Geiger, P. Lenz, C. Stiller, R. Urtasun, "Vision meets robotics: The KITTI dataset," IJRR, vol. 32, no. 11, 2013.</a:t>
            </a:r>
            <a:endParaRPr lang="en-US" sz="140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400" dirty="0">
                <a:solidFill>
                  <a:schemeClr val="tx2"/>
                </a:solidFill>
              </a:rPr>
              <a:t>[6]  A. Vaswani et al., "Attention is all you need," NeurIPS, 2017.</a:t>
            </a:r>
            <a:endParaRPr lang="en-US" sz="140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400" dirty="0">
                <a:solidFill>
                  <a:schemeClr val="tx2"/>
                </a:solidFill>
              </a:rPr>
              <a:t>[7]  M. Bijelic et al., "Seeing through fog without seeing fog," CVPR, 2020.</a:t>
            </a:r>
            <a:endParaRPr lang="en-US" sz="140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400" dirty="0">
                <a:solidFill>
                  <a:schemeClr val="tx2"/>
                </a:solidFill>
              </a:rPr>
              <a:t>[8]  Y. Feng, H. Wang, J. Luo, "Deep multi-modal sensor fusion for autonomous driving: A review," IEEE Access, vol. 8, 2020.</a:t>
            </a:r>
            <a:endParaRPr lang="en-US" sz="140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400" dirty="0">
                <a:solidFill>
                  <a:schemeClr val="tx2"/>
                </a:solidFill>
              </a:rPr>
              <a:t>[9]  Z. Liu et al., "Swin transformer," ICCV, 2021.</a:t>
            </a:r>
            <a:endParaRPr lang="en-US" sz="140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400" dirty="0">
                <a:solidFill>
                  <a:schemeClr val="tx2"/>
                </a:solidFill>
              </a:rPr>
              <a:t>[10]  K. Chitta et al., "TransFuser: Imitation with transformer-based sensor fusion for autonomous driving," IEEE TPAMI, vol. 45, no. 11, 2023.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23015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F7F7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35</a:t>
            </a:fld>
            <a:endParaRPr lang="en-US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idx="102" type="title" hasCustomPrompt="1"/>
          </p:nvPr>
        </p:nvSpPr>
        <p:spPr>
          <a:xfrm>
            <a:off x="411480" y="365760"/>
            <a:ext cx="1136873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</a:rPr>
              <a:t>References (continued)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411480" y="1280160"/>
            <a:ext cx="11368735" cy="4937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spcAft>
                <a:spcPts val="700"/>
              </a:spcAft>
              <a:buNone/>
            </a:pPr>
            <a:r>
              <a:rPr lang="en-US" sz="1400" dirty="0">
                <a:solidFill>
                  <a:schemeClr val="tx2"/>
                </a:solidFill>
              </a:rPr>
              <a:t>[11]  T. Liang et al., "BEVFusion: A simple and robust LiDAR-camera fusion framework," NeurIPS, 2022.</a:t>
            </a:r>
            <a:endParaRPr lang="en-US" sz="140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400" dirty="0">
                <a:solidFill>
                  <a:schemeClr val="tx2"/>
                </a:solidFill>
              </a:rPr>
              <a:t>[12]  T. Wang et al., "Deep learning-based fault detection for sensor systems: A survey," IEEE Sensors J., vol. 22, no. 5, 2022.</a:t>
            </a:r>
            <a:endParaRPr lang="en-US" sz="140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400" dirty="0">
                <a:solidFill>
                  <a:schemeClr val="tx2"/>
                </a:solidFill>
              </a:rPr>
              <a:t>[13]  K. He, X. Zhang, S. Ren, J. Sun, "Deep residual learning for image recognition," CVPR, 2016.</a:t>
            </a:r>
            <a:endParaRPr lang="en-US" sz="140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400" dirty="0">
                <a:solidFill>
                  <a:schemeClr val="tx2"/>
                </a:solidFill>
              </a:rPr>
              <a:t>[14]  T.-Y. Lin et al., "Feature pyramid networks for object detection," CVPR, 2017.</a:t>
            </a:r>
            <a:endParaRPr lang="en-US" sz="140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400" dirty="0">
                <a:solidFill>
                  <a:schemeClr val="tx2"/>
                </a:solidFill>
              </a:rPr>
              <a:t>[15]  Z. Tian, C. Shen, H. Chen, T. He, "FCOS: Fully convolutional one-stage object detection," ICCV, 2019.</a:t>
            </a:r>
            <a:endParaRPr lang="en-US" sz="140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400" dirty="0">
                <a:solidFill>
                  <a:schemeClr val="tx2"/>
                </a:solidFill>
              </a:rPr>
              <a:t>[16]  L.-C. Chen et al., "Encoder-decoder with atrous separable convolution for semantic image segmentation," ECCV, 2018.</a:t>
            </a:r>
            <a:endParaRPr lang="en-US" sz="140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400" dirty="0">
                <a:solidFill>
                  <a:schemeClr val="tx2"/>
                </a:solidFill>
              </a:rPr>
              <a:t>[17]  A. Kendall, Y. Gal, "What uncertainties do we need in Bayesian deep learning for computer vision?" NeurIPS, 2017.</a:t>
            </a:r>
            <a:endParaRPr lang="en-US" sz="140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400" dirty="0">
                <a:solidFill>
                  <a:schemeClr val="tx2"/>
                </a:solidFill>
              </a:rPr>
              <a:t>[18]  I. Loshchilov, F. Hutter, "Decoupled weight decay regularization," ICLR, 2019.</a:t>
            </a:r>
            <a:endParaRPr lang="en-US" sz="140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400" dirty="0">
                <a:solidFill>
                  <a:schemeClr val="tx2"/>
                </a:solidFill>
              </a:rPr>
              <a:t>[19]  C. Li, D. Song, R. Tong, M. Tang, "Illumination-aware faster R-CNN for robust multispectral pedestrian detection," Pattern Recognit., vol. 85, 2019.</a:t>
            </a:r>
            <a:endParaRPr lang="en-US" sz="140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400" dirty="0">
                <a:solidFill>
                  <a:schemeClr val="tx2"/>
                </a:solidFill>
              </a:rPr>
              <a:t>[20]  F. Qingyun, H. Dapeng, W. Zhaokui, "Cross-modality fusion transformer for multispectral object detection," arXiv:2111.00273, 2021.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23015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F7F7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36</a:t>
            </a:fld>
            <a:endParaRPr lang="en-US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0" y="2103120"/>
            <a:ext cx="12191695" cy="10058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0070C0"/>
                </a:solidFill>
              </a:rPr>
              <a:t>Thank You</a:t>
            </a:r>
            <a:endParaRPr lang="en-US" sz="4800" dirty="0"/>
          </a:p>
        </p:txBody>
      </p:sp>
      <p:sp>
        <p:nvSpPr>
          <p:cNvPr id="3" name="Text 1"/>
          <p:cNvSpPr txBox="1"/>
          <p:nvPr/>
        </p:nvSpPr>
        <p:spPr>
          <a:xfrm>
            <a:off x="0" y="3063240"/>
            <a:ext cx="12191695" cy="5486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ctr" indent="0" marL="0">
              <a:buNone/>
            </a:pPr>
            <a:r>
              <a:rPr lang="en-US" sz="2400" dirty="0">
                <a:solidFill>
                  <a:srgbClr val="595959"/>
                </a:solidFill>
              </a:rPr>
              <a:t>Questions?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914400" y="4023360"/>
            <a:ext cx="10362895" cy="11887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rgbClr val="595959"/>
                </a:solidFill>
              </a:rPr>
              <a:t>Sundram Kumar Ray · Arshiya · Parbinder Singh · Anupriya  |  Group 23G15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595959"/>
                </a:solidFill>
              </a:rPr>
              <a:t>Supervisor: Prof. Dinesh Kumar  |  Dept. of CSE, Central University of Jammu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595959"/>
                </a:solidFill>
              </a:rPr>
              <a:t>github.com/Parbinder29/ATMSF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AFTMSF">
  <a:themeElements>
    <a:clrScheme name="AFTMSF">
      <a:dk1>
        <a:srgbClr val="000000"/>
      </a:dk1>
      <a:lt1>
        <a:srgbClr val="FFFFFF"/>
      </a:lt1>
      <a:dk2>
        <a:srgbClr val="262626"/>
      </a:dk2>
      <a:lt2>
        <a:srgbClr val="F5F8FC"/>
      </a:lt2>
      <a:accent1>
        <a:srgbClr val="0070C0"/>
      </a:accent1>
      <a:accent2>
        <a:srgbClr val="00A651"/>
      </a:accent2>
      <a:accent3>
        <a:srgbClr val="C00000"/>
      </a:accent3>
      <a:accent4>
        <a:srgbClr val="7B3FE4"/>
      </a:accent4>
      <a:accent5>
        <a:srgbClr val="F39C12"/>
      </a:accent5>
      <a:accent6>
        <a:srgbClr val="0E9488"/>
      </a:accent6>
      <a:hlink>
        <a:srgbClr val="0070C0"/>
      </a:hlink>
      <a:folHlink>
        <a:srgbClr val="7B3FE4"/>
      </a:folHlink>
    </a:clrScheme>
    <a:fontScheme name="AFTMSF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37</Slides>
  <Notes>37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37</vt:i4>
      </vt:variant>
    </vt:vector>
  </HeadingPairs>
  <TitlesOfParts>
    <vt:vector size="4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Adaptive Fault-Tolerant Multi-Sensor Fusion for Real-Time Autonomous Systems</dc:title>
  <dc:subject>PptxGenJS Presentation</dc:subject>
  <dc:creator>Group 23G15, Central University of Jammu</dc:creator>
  <cp:lastModifiedBy>Group 23G15, Central University of Jammu</cp:lastModifiedBy>
  <cp:revision>1</cp:revision>
  <dcterms:created xsi:type="dcterms:W3CDTF">2026-10-15T04:23:08Z</dcterms:created>
  <dcterms:modified xsi:type="dcterms:W3CDTF">2026-10-15T04:23:08Z</dcterms:modified>
</cp:coreProperties>
</file>